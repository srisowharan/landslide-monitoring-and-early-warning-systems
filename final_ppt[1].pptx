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5" r:id="rId7"/>
    <p:sldId id="261" r:id="rId8"/>
    <p:sldId id="263" r:id="rId9"/>
    <p:sldId id="266" r:id="rId10"/>
    <p:sldId id="267" r:id="rId11"/>
    <p:sldId id="270" r:id="rId12"/>
    <p:sldId id="271" r:id="rId13"/>
    <p:sldId id="276" r:id="rId14"/>
    <p:sldId id="281" r:id="rId15"/>
    <p:sldId id="272" r:id="rId16"/>
    <p:sldId id="273" r:id="rId17"/>
    <p:sldId id="279" r:id="rId18"/>
    <p:sldId id="280" r:id="rId19"/>
    <p:sldId id="274" r:id="rId20"/>
    <p:sldId id="275"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6D018A-AB8C-4722-AB50-D771FF87BF81}">
  <a:tblStyle styleId="{036D018A-AB8C-4722-AB50-D771FF87BF8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67c723c45f_0_2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67c723c45f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67c723c45f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67c723c45f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67c723c45f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67c723c45f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67c723c45f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67c723c45f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67c723c45f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67c723c45f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67c723c45f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67c723c45f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897603" y="1005433"/>
            <a:ext cx="5361300" cy="144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GB" sz="2000" b="1" dirty="0">
                <a:latin typeface="Times New Roman"/>
                <a:ea typeface="Times New Roman"/>
                <a:cs typeface="Times New Roman"/>
                <a:sym typeface="Times New Roman"/>
              </a:rPr>
              <a:t>IoT Based Landslide Detection and Monitoring System</a:t>
            </a:r>
          </a:p>
        </p:txBody>
      </p:sp>
      <p:sp>
        <p:nvSpPr>
          <p:cNvPr id="55" name="Google Shape;55;p13"/>
          <p:cNvSpPr txBox="1">
            <a:spLocks noGrp="1"/>
          </p:cNvSpPr>
          <p:nvPr>
            <p:ph type="subTitle" idx="1"/>
          </p:nvPr>
        </p:nvSpPr>
        <p:spPr>
          <a:xfrm>
            <a:off x="1771200" y="2960654"/>
            <a:ext cx="5361300" cy="883800"/>
          </a:xfrm>
          <a:prstGeom prst="rect">
            <a:avLst/>
          </a:prstGeom>
        </p:spPr>
        <p:txBody>
          <a:bodyPr spcFirstLastPara="1" wrap="square" lIns="91425" tIns="91425" rIns="91425" bIns="91425" anchor="ctr" anchorCtr="0">
            <a:normAutofit/>
          </a:bodyPr>
          <a:lstStyle/>
          <a:p>
            <a:pPr marL="0" lvl="0" indent="0" algn="ctr" rtl="0">
              <a:lnSpc>
                <a:spcPct val="80000"/>
              </a:lnSpc>
              <a:spcBef>
                <a:spcPts val="0"/>
              </a:spcBef>
              <a:spcAft>
                <a:spcPts val="0"/>
              </a:spcAft>
              <a:buSzPts val="935"/>
              <a:buNone/>
            </a:pPr>
            <a:r>
              <a:rPr lang="en-GB" sz="1900" b="1">
                <a:solidFill>
                  <a:schemeClr val="dk1"/>
                </a:solidFill>
                <a:latin typeface="Times New Roman"/>
                <a:ea typeface="Times New Roman"/>
                <a:cs typeface="Times New Roman"/>
                <a:sym typeface="Times New Roman"/>
              </a:rPr>
              <a:t>Sri Sowharan P K     20TUCS229</a:t>
            </a:r>
            <a:endParaRPr sz="1900" b="1">
              <a:solidFill>
                <a:schemeClr val="dk1"/>
              </a:solidFill>
              <a:latin typeface="Times New Roman"/>
              <a:ea typeface="Times New Roman"/>
              <a:cs typeface="Times New Roman"/>
              <a:sym typeface="Times New Roman"/>
            </a:endParaRPr>
          </a:p>
          <a:p>
            <a:pPr marL="0" lvl="0" indent="0" algn="ctr" rtl="0">
              <a:lnSpc>
                <a:spcPct val="80000"/>
              </a:lnSpc>
              <a:spcBef>
                <a:spcPts val="0"/>
              </a:spcBef>
              <a:spcAft>
                <a:spcPts val="0"/>
              </a:spcAft>
              <a:buSzPts val="935"/>
              <a:buNone/>
            </a:pPr>
            <a:r>
              <a:rPr lang="en-GB" sz="1900" b="1">
                <a:solidFill>
                  <a:schemeClr val="dk1"/>
                </a:solidFill>
                <a:latin typeface="Times New Roman"/>
                <a:ea typeface="Times New Roman"/>
                <a:cs typeface="Times New Roman"/>
                <a:sym typeface="Times New Roman"/>
              </a:rPr>
              <a:t>Ukesh  R                    20TUCS246</a:t>
            </a:r>
            <a:endParaRPr sz="1900" b="1">
              <a:solidFill>
                <a:schemeClr val="dk1"/>
              </a:solidFill>
              <a:latin typeface="Times New Roman"/>
              <a:ea typeface="Times New Roman"/>
              <a:cs typeface="Times New Roman"/>
              <a:sym typeface="Times New Roman"/>
            </a:endParaRPr>
          </a:p>
          <a:p>
            <a:pPr marL="0" lvl="0" indent="0" algn="ctr" rtl="0">
              <a:lnSpc>
                <a:spcPct val="80000"/>
              </a:lnSpc>
              <a:spcBef>
                <a:spcPts val="0"/>
              </a:spcBef>
              <a:spcAft>
                <a:spcPts val="0"/>
              </a:spcAft>
              <a:buSzPts val="935"/>
              <a:buNone/>
            </a:pPr>
            <a:r>
              <a:rPr lang="en-GB" sz="1900" b="1">
                <a:solidFill>
                  <a:schemeClr val="dk1"/>
                </a:solidFill>
                <a:latin typeface="Times New Roman"/>
                <a:ea typeface="Times New Roman"/>
                <a:cs typeface="Times New Roman"/>
                <a:sym typeface="Times New Roman"/>
              </a:rPr>
              <a:t>Vasanth M                 20TUCS248</a:t>
            </a:r>
            <a:endParaRPr sz="1900" b="1">
              <a:solidFill>
                <a:schemeClr val="dk1"/>
              </a:solidFill>
              <a:latin typeface="Times New Roman"/>
              <a:ea typeface="Times New Roman"/>
              <a:cs typeface="Times New Roman"/>
              <a:sym typeface="Times New Roman"/>
            </a:endParaRPr>
          </a:p>
        </p:txBody>
      </p:sp>
      <p:sp>
        <p:nvSpPr>
          <p:cNvPr id="56" name="Google Shape;56;p13"/>
          <p:cNvSpPr txBox="1"/>
          <p:nvPr/>
        </p:nvSpPr>
        <p:spPr>
          <a:xfrm>
            <a:off x="2318902" y="246971"/>
            <a:ext cx="4132200" cy="777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600" b="1" i="1" dirty="0">
                <a:solidFill>
                  <a:srgbClr val="3C78D8"/>
                </a:solidFill>
                <a:latin typeface="Times New Roman"/>
                <a:ea typeface="Times New Roman"/>
                <a:cs typeface="Times New Roman"/>
                <a:sym typeface="Times New Roman"/>
              </a:rPr>
              <a:t>Second  Review</a:t>
            </a:r>
            <a:endParaRPr sz="2600" b="1" i="1" dirty="0">
              <a:solidFill>
                <a:srgbClr val="3C78D8"/>
              </a:solidFill>
              <a:latin typeface="Times New Roman"/>
              <a:ea typeface="Times New Roman"/>
              <a:cs typeface="Times New Roman"/>
              <a:sym typeface="Times New Roman"/>
            </a:endParaRPr>
          </a:p>
        </p:txBody>
      </p:sp>
      <p:sp>
        <p:nvSpPr>
          <p:cNvPr id="57" name="Google Shape;57;p13"/>
          <p:cNvSpPr txBox="1"/>
          <p:nvPr/>
        </p:nvSpPr>
        <p:spPr>
          <a:xfrm>
            <a:off x="2852400" y="2488825"/>
            <a:ext cx="3198900" cy="436500"/>
          </a:xfrm>
          <a:prstGeom prst="rect">
            <a:avLst/>
          </a:prstGeom>
          <a:gradFill flip="none" rotWithShape="1">
            <a:gsLst>
              <a:gs pos="0">
                <a:srgbClr val="A64D79">
                  <a:shade val="30000"/>
                  <a:satMod val="115000"/>
                </a:srgbClr>
              </a:gs>
              <a:gs pos="50000">
                <a:srgbClr val="A64D79">
                  <a:shade val="67500"/>
                  <a:satMod val="115000"/>
                </a:srgbClr>
              </a:gs>
              <a:gs pos="100000">
                <a:srgbClr val="A64D79">
                  <a:shade val="100000"/>
                  <a:satMod val="115000"/>
                </a:srgbClr>
              </a:gs>
            </a:gsLst>
            <a:lin ang="16200000" scaled="1"/>
            <a:tileRect/>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chemeClr val="bg1"/>
                </a:solidFill>
                <a:latin typeface="Times New Roman" panose="02020603050405020304" pitchFamily="18" charset="0"/>
                <a:cs typeface="Times New Roman" panose="02020603050405020304" pitchFamily="18" charset="0"/>
                <a:sym typeface="Times New Roman"/>
              </a:rPr>
              <a:t>Batch Number: 06</a:t>
            </a:r>
            <a:endParaRPr dirty="0">
              <a:solidFill>
                <a:schemeClr val="bg1"/>
              </a:solidFill>
              <a:latin typeface="Times New Roman" panose="02020603050405020304" pitchFamily="18" charset="0"/>
              <a:cs typeface="Times New Roman" panose="02020603050405020304" pitchFamily="18" charset="0"/>
              <a:sym typeface="Times New Roman"/>
            </a:endParaRPr>
          </a:p>
        </p:txBody>
      </p:sp>
      <p:sp>
        <p:nvSpPr>
          <p:cNvPr id="58" name="Google Shape;58;p13"/>
          <p:cNvSpPr txBox="1"/>
          <p:nvPr/>
        </p:nvSpPr>
        <p:spPr>
          <a:xfrm>
            <a:off x="5320450" y="4175075"/>
            <a:ext cx="3432300" cy="632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600" b="1">
                <a:latin typeface="Times New Roman"/>
                <a:ea typeface="Times New Roman"/>
                <a:cs typeface="Times New Roman"/>
                <a:sym typeface="Times New Roman"/>
              </a:rPr>
              <a:t>Guided By</a:t>
            </a:r>
            <a:endParaRPr sz="1600" b="1">
              <a:latin typeface="Times New Roman"/>
              <a:ea typeface="Times New Roman"/>
              <a:cs typeface="Times New Roman"/>
              <a:sym typeface="Times New Roman"/>
            </a:endParaRPr>
          </a:p>
          <a:p>
            <a:pPr marL="0" lvl="0" indent="0" algn="ctr" rtl="0">
              <a:spcBef>
                <a:spcPts val="0"/>
              </a:spcBef>
              <a:spcAft>
                <a:spcPts val="0"/>
              </a:spcAft>
              <a:buNone/>
            </a:pPr>
            <a:r>
              <a:rPr lang="en-GB" sz="1600" b="1">
                <a:latin typeface="Times New Roman"/>
                <a:ea typeface="Times New Roman"/>
                <a:cs typeface="Times New Roman"/>
                <a:sym typeface="Times New Roman"/>
              </a:rPr>
              <a:t>Mr. T. Raghunathan</a:t>
            </a:r>
            <a:endParaRPr sz="1600" b="1">
              <a:latin typeface="Times New Roman"/>
              <a:ea typeface="Times New Roman"/>
              <a:cs typeface="Times New Roman"/>
              <a:sym typeface="Times New Roman"/>
            </a:endParaRPr>
          </a:p>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3220" b="1">
                <a:solidFill>
                  <a:srgbClr val="3C78D8"/>
                </a:solidFill>
                <a:latin typeface="Times New Roman"/>
                <a:ea typeface="Times New Roman"/>
                <a:cs typeface="Times New Roman"/>
                <a:sym typeface="Times New Roman"/>
              </a:rPr>
              <a:t>Outline</a:t>
            </a:r>
            <a:endParaRPr sz="3220" b="1">
              <a:solidFill>
                <a:srgbClr val="3C78D8"/>
              </a:solidFill>
              <a:latin typeface="Times New Roman"/>
              <a:ea typeface="Times New Roman"/>
              <a:cs typeface="Times New Roman"/>
              <a:sym typeface="Times New Roman"/>
            </a:endParaRPr>
          </a:p>
        </p:txBody>
      </p:sp>
      <p:sp>
        <p:nvSpPr>
          <p:cNvPr id="64" name="Google Shape;64;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rmAutofit/>
          </a:bodyPr>
          <a:lstStyle/>
          <a:p>
            <a:pPr marL="457200" lvl="0" indent="-356629" algn="l" rtl="0">
              <a:lnSpc>
                <a:spcPct val="150000"/>
              </a:lnSpc>
              <a:spcBef>
                <a:spcPts val="0"/>
              </a:spcBef>
              <a:spcAft>
                <a:spcPts val="0"/>
              </a:spcAft>
              <a:buClr>
                <a:srgbClr val="666666"/>
              </a:buClr>
              <a:buSzPts val="2016"/>
              <a:buFont typeface="Times New Roman"/>
              <a:buChar char="❖"/>
            </a:pPr>
            <a:r>
              <a:rPr lang="en-GB" sz="2016" b="1" dirty="0">
                <a:solidFill>
                  <a:schemeClr val="dk1"/>
                </a:solidFill>
                <a:latin typeface="Times New Roman"/>
                <a:ea typeface="Times New Roman"/>
                <a:cs typeface="Times New Roman"/>
                <a:sym typeface="Times New Roman"/>
              </a:rPr>
              <a:t>Base Paper</a:t>
            </a:r>
            <a:endParaRPr sz="2016" b="1" dirty="0">
              <a:solidFill>
                <a:schemeClr val="dk1"/>
              </a:solidFill>
              <a:latin typeface="Times New Roman"/>
              <a:ea typeface="Times New Roman"/>
              <a:cs typeface="Times New Roman"/>
              <a:sym typeface="Times New Roman"/>
            </a:endParaRPr>
          </a:p>
          <a:p>
            <a:pPr marL="457200" lvl="0" indent="-356629" algn="l" rtl="0">
              <a:lnSpc>
                <a:spcPct val="150000"/>
              </a:lnSpc>
              <a:spcBef>
                <a:spcPts val="0"/>
              </a:spcBef>
              <a:spcAft>
                <a:spcPts val="0"/>
              </a:spcAft>
              <a:buClr>
                <a:srgbClr val="666666"/>
              </a:buClr>
              <a:buSzPts val="2016"/>
              <a:buFont typeface="Times New Roman"/>
              <a:buChar char="❖"/>
            </a:pPr>
            <a:r>
              <a:rPr lang="en-GB" sz="2016" b="1" dirty="0">
                <a:solidFill>
                  <a:schemeClr val="dk1"/>
                </a:solidFill>
                <a:latin typeface="Times New Roman"/>
                <a:ea typeface="Times New Roman"/>
                <a:cs typeface="Times New Roman"/>
                <a:sym typeface="Times New Roman"/>
              </a:rPr>
              <a:t>Abstract</a:t>
            </a:r>
            <a:endParaRPr sz="2016" b="1" dirty="0">
              <a:solidFill>
                <a:schemeClr val="dk1"/>
              </a:solidFill>
              <a:latin typeface="Times New Roman"/>
              <a:ea typeface="Times New Roman"/>
              <a:cs typeface="Times New Roman"/>
              <a:sym typeface="Times New Roman"/>
            </a:endParaRPr>
          </a:p>
          <a:p>
            <a:pPr marL="457200" lvl="0" indent="-356629" algn="l" rtl="0">
              <a:lnSpc>
                <a:spcPct val="150000"/>
              </a:lnSpc>
              <a:spcBef>
                <a:spcPts val="0"/>
              </a:spcBef>
              <a:spcAft>
                <a:spcPts val="0"/>
              </a:spcAft>
              <a:buClr>
                <a:srgbClr val="666666"/>
              </a:buClr>
              <a:buSzPts val="2016"/>
              <a:buFont typeface="Times New Roman"/>
              <a:buChar char="❖"/>
            </a:pPr>
            <a:r>
              <a:rPr lang="en-GB" sz="2016" b="1" dirty="0">
                <a:solidFill>
                  <a:schemeClr val="dk1"/>
                </a:solidFill>
                <a:latin typeface="Times New Roman"/>
                <a:ea typeface="Times New Roman"/>
                <a:cs typeface="Times New Roman"/>
                <a:sym typeface="Times New Roman"/>
              </a:rPr>
              <a:t>Introduction</a:t>
            </a:r>
            <a:endParaRPr sz="2016" b="1" dirty="0">
              <a:solidFill>
                <a:schemeClr val="dk1"/>
              </a:solidFill>
              <a:latin typeface="Times New Roman"/>
              <a:ea typeface="Times New Roman"/>
              <a:cs typeface="Times New Roman"/>
              <a:sym typeface="Times New Roman"/>
            </a:endParaRPr>
          </a:p>
          <a:p>
            <a:pPr marL="457200" lvl="0" indent="-356629" algn="l" rtl="0">
              <a:lnSpc>
                <a:spcPct val="150000"/>
              </a:lnSpc>
              <a:spcBef>
                <a:spcPts val="0"/>
              </a:spcBef>
              <a:spcAft>
                <a:spcPts val="0"/>
              </a:spcAft>
              <a:buClr>
                <a:srgbClr val="666666"/>
              </a:buClr>
              <a:buSzPts val="2016"/>
              <a:buFont typeface="Times New Roman"/>
              <a:buChar char="❖"/>
            </a:pPr>
            <a:r>
              <a:rPr lang="en-GB" sz="2016" b="1" dirty="0">
                <a:solidFill>
                  <a:schemeClr val="dk1"/>
                </a:solidFill>
                <a:latin typeface="Times New Roman"/>
                <a:ea typeface="Times New Roman"/>
                <a:cs typeface="Times New Roman"/>
                <a:sym typeface="Times New Roman"/>
              </a:rPr>
              <a:t>Literature Survey</a:t>
            </a:r>
            <a:endParaRPr sz="2016" b="1" dirty="0">
              <a:solidFill>
                <a:schemeClr val="dk1"/>
              </a:solidFill>
              <a:latin typeface="Times New Roman"/>
              <a:ea typeface="Times New Roman"/>
              <a:cs typeface="Times New Roman"/>
              <a:sym typeface="Times New Roman"/>
            </a:endParaRPr>
          </a:p>
          <a:p>
            <a:pPr marL="457200" lvl="0" indent="-356629" algn="l" rtl="0">
              <a:lnSpc>
                <a:spcPct val="150000"/>
              </a:lnSpc>
              <a:spcBef>
                <a:spcPts val="0"/>
              </a:spcBef>
              <a:spcAft>
                <a:spcPts val="0"/>
              </a:spcAft>
              <a:buClr>
                <a:srgbClr val="666666"/>
              </a:buClr>
              <a:buSzPts val="2016"/>
              <a:buFont typeface="Times New Roman"/>
              <a:buChar char="❖"/>
            </a:pPr>
            <a:r>
              <a:rPr lang="en-GB" sz="2016" b="1" dirty="0">
                <a:solidFill>
                  <a:schemeClr val="dk1"/>
                </a:solidFill>
                <a:latin typeface="Times New Roman"/>
                <a:ea typeface="Times New Roman"/>
                <a:cs typeface="Times New Roman"/>
                <a:sym typeface="Times New Roman"/>
              </a:rPr>
              <a:t>Problem Definition</a:t>
            </a:r>
            <a:endParaRPr sz="2016" b="1" dirty="0">
              <a:solidFill>
                <a:schemeClr val="dk1"/>
              </a:solidFill>
              <a:latin typeface="Times New Roman"/>
              <a:ea typeface="Times New Roman"/>
              <a:cs typeface="Times New Roman"/>
              <a:sym typeface="Times New Roman"/>
            </a:endParaRPr>
          </a:p>
          <a:p>
            <a:pPr marL="457200" lvl="0" indent="-356629" algn="l" rtl="0">
              <a:lnSpc>
                <a:spcPct val="150000"/>
              </a:lnSpc>
              <a:spcBef>
                <a:spcPts val="0"/>
              </a:spcBef>
              <a:spcAft>
                <a:spcPts val="0"/>
              </a:spcAft>
              <a:buClr>
                <a:srgbClr val="666666"/>
              </a:buClr>
              <a:buSzPts val="2016"/>
              <a:buFont typeface="Times New Roman"/>
              <a:buChar char="❖"/>
            </a:pPr>
            <a:r>
              <a:rPr lang="en-GB" sz="2016" b="1" dirty="0">
                <a:solidFill>
                  <a:schemeClr val="dk1"/>
                </a:solidFill>
                <a:latin typeface="Times New Roman"/>
                <a:ea typeface="Times New Roman"/>
                <a:cs typeface="Times New Roman"/>
                <a:sym typeface="Times New Roman"/>
              </a:rPr>
              <a:t>Objective</a:t>
            </a:r>
            <a:endParaRPr sz="2016" b="1" dirty="0">
              <a:solidFill>
                <a:schemeClr val="dk1"/>
              </a:solidFill>
              <a:latin typeface="Times New Roman"/>
              <a:ea typeface="Times New Roman"/>
              <a:cs typeface="Times New Roman"/>
              <a:sym typeface="Times New Roman"/>
            </a:endParaRPr>
          </a:p>
          <a:p>
            <a:pPr marL="457200" lvl="0" indent="-356629" algn="l" rtl="0">
              <a:lnSpc>
                <a:spcPct val="150000"/>
              </a:lnSpc>
              <a:spcBef>
                <a:spcPts val="0"/>
              </a:spcBef>
              <a:spcAft>
                <a:spcPts val="0"/>
              </a:spcAft>
              <a:buClr>
                <a:srgbClr val="666666"/>
              </a:buClr>
              <a:buSzPts val="2016"/>
              <a:buFont typeface="Times New Roman"/>
              <a:buChar char="❖"/>
            </a:pPr>
            <a:r>
              <a:rPr lang="en-GB" sz="2016" b="1" dirty="0">
                <a:solidFill>
                  <a:schemeClr val="dk1"/>
                </a:solidFill>
                <a:latin typeface="Times New Roman"/>
                <a:ea typeface="Times New Roman"/>
                <a:cs typeface="Times New Roman"/>
                <a:sym typeface="Times New Roman"/>
              </a:rPr>
              <a:t>Methodology</a:t>
            </a:r>
            <a:endParaRPr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b="1">
                <a:solidFill>
                  <a:srgbClr val="3C78D8"/>
                </a:solidFill>
                <a:latin typeface="Times New Roman"/>
                <a:ea typeface="Times New Roman"/>
                <a:cs typeface="Times New Roman"/>
                <a:sym typeface="Times New Roman"/>
              </a:rPr>
              <a:t>Base Paper</a:t>
            </a:r>
            <a:endParaRPr b="1">
              <a:solidFill>
                <a:srgbClr val="3C78D8"/>
              </a:solidFill>
              <a:latin typeface="Times New Roman"/>
              <a:ea typeface="Times New Roman"/>
              <a:cs typeface="Times New Roman"/>
              <a:sym typeface="Times New Roman"/>
            </a:endParaRPr>
          </a:p>
        </p:txBody>
      </p:sp>
      <p:graphicFrame>
        <p:nvGraphicFramePr>
          <p:cNvPr id="71" name="Google Shape;71;p15"/>
          <p:cNvGraphicFramePr/>
          <p:nvPr>
            <p:extLst>
              <p:ext uri="{D42A27DB-BD31-4B8C-83A1-F6EECF244321}">
                <p14:modId xmlns:p14="http://schemas.microsoft.com/office/powerpoint/2010/main" val="352588772"/>
              </p:ext>
            </p:extLst>
          </p:nvPr>
        </p:nvGraphicFramePr>
        <p:xfrm>
          <a:off x="952500" y="1017725"/>
          <a:ext cx="7239000" cy="3704230"/>
        </p:xfrm>
        <a:graphic>
          <a:graphicData uri="http://schemas.openxmlformats.org/drawingml/2006/table">
            <a:tbl>
              <a:tblPr>
                <a:noFill/>
                <a:tableStyleId>{036D018A-AB8C-4722-AB50-D771FF87BF81}</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1552272">
                <a:tc>
                  <a:txBody>
                    <a:bodyPr/>
                    <a:lstStyle/>
                    <a:p>
                      <a:pPr marL="0" lvl="0" indent="0" algn="l" rtl="0">
                        <a:spcBef>
                          <a:spcPts val="0"/>
                        </a:spcBef>
                        <a:spcAft>
                          <a:spcPts val="0"/>
                        </a:spcAft>
                        <a:buNone/>
                      </a:pPr>
                      <a:r>
                        <a:rPr lang="en-GB" sz="1900" b="1" u="none" dirty="0">
                          <a:latin typeface="Times New Roman"/>
                          <a:ea typeface="Times New Roman"/>
                          <a:cs typeface="Times New Roman"/>
                          <a:sym typeface="Times New Roman"/>
                        </a:rPr>
                        <a:t>Title of the Paper</a:t>
                      </a:r>
                      <a:endParaRPr sz="1900" b="1" u="none" dirty="0">
                        <a:latin typeface="Times New Roman"/>
                        <a:ea typeface="Times New Roman"/>
                        <a:cs typeface="Times New Roman"/>
                        <a:sym typeface="Times New Roman"/>
                      </a:endParaRPr>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r>
                        <a:rPr lang="en-GB" sz="1900" dirty="0">
                          <a:latin typeface="Times New Roman"/>
                          <a:ea typeface="Times New Roman"/>
                          <a:cs typeface="Times New Roman"/>
                          <a:sym typeface="Times New Roman"/>
                        </a:rPr>
                        <a:t>LoRa Based Metrics Evaluation for Real-Time</a:t>
                      </a:r>
                    </a:p>
                    <a:p>
                      <a:pPr marL="0" lvl="0" indent="0" algn="l" rtl="0">
                        <a:spcBef>
                          <a:spcPts val="0"/>
                        </a:spcBef>
                        <a:spcAft>
                          <a:spcPts val="0"/>
                        </a:spcAft>
                        <a:buNone/>
                      </a:pPr>
                      <a:r>
                        <a:rPr lang="en-GB" sz="1900" dirty="0">
                          <a:latin typeface="Times New Roman"/>
                          <a:ea typeface="Times New Roman"/>
                          <a:cs typeface="Times New Roman"/>
                          <a:sym typeface="Times New Roman"/>
                        </a:rPr>
                        <a:t>Landslide Monitoring on IoT Platform</a:t>
                      </a:r>
                      <a:endParaRPr sz="1900" dirty="0">
                        <a:latin typeface="Times New Roman"/>
                        <a:ea typeface="Times New Roman"/>
                        <a:cs typeface="Times New Roman"/>
                        <a:sym typeface="Times New Roman"/>
                      </a:endParaRPr>
                    </a:p>
                  </a:txBody>
                  <a:tcPr marL="91425" marR="91425" marT="91425" marB="91425">
                    <a:lnL w="9525" cap="flat" cmpd="sng">
                      <a:solidFill>
                        <a:srgbClr val="434343"/>
                      </a:solidFill>
                      <a:prstDash val="solid"/>
                      <a:round/>
                      <a:headEnd type="none" w="sm" len="sm"/>
                      <a:tailEnd type="none" w="sm" len="sm"/>
                    </a:lnL>
                  </a:tcPr>
                </a:tc>
                <a:extLst>
                  <a:ext uri="{0D108BD9-81ED-4DB2-BD59-A6C34878D82A}">
                    <a16:rowId xmlns:a16="http://schemas.microsoft.com/office/drawing/2014/main" val="10000"/>
                  </a:ext>
                </a:extLst>
              </a:tr>
              <a:tr h="1058356">
                <a:tc>
                  <a:txBody>
                    <a:bodyPr/>
                    <a:lstStyle/>
                    <a:p>
                      <a:pPr marL="0" lvl="0" indent="0" algn="l" rtl="0">
                        <a:spcBef>
                          <a:spcPts val="0"/>
                        </a:spcBef>
                        <a:spcAft>
                          <a:spcPts val="0"/>
                        </a:spcAft>
                        <a:buNone/>
                      </a:pPr>
                      <a:r>
                        <a:rPr lang="en-GB" sz="1900" b="1" u="none" dirty="0">
                          <a:latin typeface="Times New Roman"/>
                          <a:ea typeface="Times New Roman"/>
                          <a:cs typeface="Times New Roman"/>
                          <a:sym typeface="Times New Roman"/>
                        </a:rPr>
                        <a:t>Author</a:t>
                      </a:r>
                      <a:endParaRPr sz="1900" b="1" u="none" dirty="0">
                        <a:latin typeface="Times New Roman"/>
                        <a:ea typeface="Times New Roman"/>
                        <a:cs typeface="Times New Roman"/>
                        <a:sym typeface="Times New Roman"/>
                      </a:endParaRPr>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r>
                        <a:rPr lang="en-GB" sz="1600" dirty="0">
                          <a:latin typeface="Times New Roman"/>
                          <a:ea typeface="Times New Roman"/>
                          <a:cs typeface="Times New Roman"/>
                          <a:sym typeface="Times New Roman"/>
                        </a:rPr>
                        <a:t>Swapnil </a:t>
                      </a:r>
                      <a:r>
                        <a:rPr lang="en-GB" sz="1600" dirty="0" err="1">
                          <a:latin typeface="Times New Roman"/>
                          <a:ea typeface="Times New Roman"/>
                          <a:cs typeface="Times New Roman"/>
                          <a:sym typeface="Times New Roman"/>
                        </a:rPr>
                        <a:t>Bagwari</a:t>
                      </a:r>
                      <a:r>
                        <a:rPr lang="en-GB" sz="1600" dirty="0">
                          <a:latin typeface="Times New Roman"/>
                          <a:ea typeface="Times New Roman"/>
                          <a:cs typeface="Times New Roman"/>
                          <a:sym typeface="Times New Roman"/>
                        </a:rPr>
                        <a:t>, Ajay Roy1, Anita Gehlot, Rajesh Singh , Neeraj </a:t>
                      </a:r>
                      <a:r>
                        <a:rPr lang="en-GB" sz="1600" dirty="0" err="1">
                          <a:latin typeface="Times New Roman"/>
                          <a:ea typeface="Times New Roman"/>
                          <a:cs typeface="Times New Roman"/>
                          <a:sym typeface="Times New Roman"/>
                        </a:rPr>
                        <a:t>Priyadarshi</a:t>
                      </a:r>
                      <a:r>
                        <a:rPr lang="en-GB" sz="1600" dirty="0">
                          <a:latin typeface="Times New Roman"/>
                          <a:ea typeface="Times New Roman"/>
                          <a:cs typeface="Times New Roman"/>
                          <a:sym typeface="Times New Roman"/>
                        </a:rPr>
                        <a:t> and </a:t>
                      </a:r>
                      <a:r>
                        <a:rPr lang="en-GB" sz="1600" dirty="0" err="1">
                          <a:latin typeface="Times New Roman"/>
                          <a:ea typeface="Times New Roman"/>
                          <a:cs typeface="Times New Roman"/>
                          <a:sym typeface="Times New Roman"/>
                        </a:rPr>
                        <a:t>Baseem</a:t>
                      </a:r>
                      <a:r>
                        <a:rPr lang="en-GB" sz="1600" dirty="0">
                          <a:latin typeface="Times New Roman"/>
                          <a:ea typeface="Times New Roman"/>
                          <a:cs typeface="Times New Roman"/>
                          <a:sym typeface="Times New Roman"/>
                        </a:rPr>
                        <a:t> Khan</a:t>
                      </a:r>
                    </a:p>
                  </a:txBody>
                  <a:tcPr marL="91425" marR="91425" marT="91425" marB="91425">
                    <a:lnL w="9525" cap="flat" cmpd="sng">
                      <a:solidFill>
                        <a:srgbClr val="434343"/>
                      </a:solidFill>
                      <a:prstDash val="solid"/>
                      <a:round/>
                      <a:headEnd type="none" w="sm" len="sm"/>
                      <a:tailEnd type="none" w="sm" len="sm"/>
                    </a:lnL>
                  </a:tcPr>
                </a:tc>
                <a:extLst>
                  <a:ext uri="{0D108BD9-81ED-4DB2-BD59-A6C34878D82A}">
                    <a16:rowId xmlns:a16="http://schemas.microsoft.com/office/drawing/2014/main" val="10001"/>
                  </a:ext>
                </a:extLst>
              </a:tr>
              <a:tr h="546801">
                <a:tc>
                  <a:txBody>
                    <a:bodyPr/>
                    <a:lstStyle/>
                    <a:p>
                      <a:pPr marL="0" lvl="0" indent="0" algn="l" rtl="0">
                        <a:spcBef>
                          <a:spcPts val="0"/>
                        </a:spcBef>
                        <a:spcAft>
                          <a:spcPts val="0"/>
                        </a:spcAft>
                        <a:buNone/>
                      </a:pPr>
                      <a:r>
                        <a:rPr lang="en-GB" sz="1900" b="1" u="none" dirty="0">
                          <a:latin typeface="Times New Roman"/>
                          <a:ea typeface="Times New Roman"/>
                          <a:cs typeface="Times New Roman"/>
                          <a:sym typeface="Times New Roman"/>
                        </a:rPr>
                        <a:t>Year</a:t>
                      </a:r>
                      <a:endParaRPr sz="1900" b="1" u="none" dirty="0">
                        <a:latin typeface="Times New Roman"/>
                        <a:ea typeface="Times New Roman"/>
                        <a:cs typeface="Times New Roman"/>
                        <a:sym typeface="Times New Roman"/>
                      </a:endParaRPr>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r>
                        <a:rPr lang="en-GB" sz="1900" dirty="0">
                          <a:latin typeface="Times New Roman"/>
                          <a:ea typeface="Times New Roman"/>
                          <a:cs typeface="Times New Roman"/>
                          <a:sym typeface="Times New Roman"/>
                        </a:rPr>
                        <a:t>2022</a:t>
                      </a:r>
                      <a:endParaRPr sz="1900" dirty="0">
                        <a:latin typeface="Times New Roman"/>
                        <a:ea typeface="Times New Roman"/>
                        <a:cs typeface="Times New Roman"/>
                        <a:sym typeface="Times New Roman"/>
                      </a:endParaRPr>
                    </a:p>
                  </a:txBody>
                  <a:tcPr marL="91425" marR="91425" marT="91425" marB="91425">
                    <a:lnL w="9525" cap="flat" cmpd="sng">
                      <a:solidFill>
                        <a:srgbClr val="434343"/>
                      </a:solidFill>
                      <a:prstDash val="solid"/>
                      <a:round/>
                      <a:headEnd type="none" w="sm" len="sm"/>
                      <a:tailEnd type="none" w="sm" len="sm"/>
                    </a:lnL>
                  </a:tcPr>
                </a:tc>
                <a:extLst>
                  <a:ext uri="{0D108BD9-81ED-4DB2-BD59-A6C34878D82A}">
                    <a16:rowId xmlns:a16="http://schemas.microsoft.com/office/drawing/2014/main" val="10002"/>
                  </a:ext>
                </a:extLst>
              </a:tr>
              <a:tr h="546801">
                <a:tc>
                  <a:txBody>
                    <a:bodyPr/>
                    <a:lstStyle/>
                    <a:p>
                      <a:pPr marL="0" lvl="0" indent="0" algn="l" rtl="0">
                        <a:spcBef>
                          <a:spcPts val="0"/>
                        </a:spcBef>
                        <a:spcAft>
                          <a:spcPts val="0"/>
                        </a:spcAft>
                        <a:buNone/>
                      </a:pPr>
                      <a:r>
                        <a:rPr lang="en-GB" sz="1900" b="1" u="none" dirty="0">
                          <a:latin typeface="Times New Roman"/>
                          <a:ea typeface="Times New Roman"/>
                          <a:cs typeface="Times New Roman"/>
                          <a:sym typeface="Times New Roman"/>
                        </a:rPr>
                        <a:t>Journal</a:t>
                      </a:r>
                      <a:endParaRPr sz="1900" b="1" u="none" dirty="0">
                        <a:latin typeface="Times New Roman"/>
                        <a:ea typeface="Times New Roman"/>
                        <a:cs typeface="Times New Roman"/>
                        <a:sym typeface="Times New Roman"/>
                      </a:endParaRPr>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r>
                        <a:rPr lang="en-GB" sz="1900" dirty="0">
                          <a:latin typeface="Times New Roman"/>
                          <a:ea typeface="Times New Roman"/>
                          <a:cs typeface="Times New Roman"/>
                          <a:sym typeface="Times New Roman"/>
                        </a:rPr>
                        <a:t>IEEE</a:t>
                      </a:r>
                      <a:endParaRPr sz="1900" dirty="0">
                        <a:latin typeface="Times New Roman"/>
                        <a:ea typeface="Times New Roman"/>
                        <a:cs typeface="Times New Roman"/>
                        <a:sym typeface="Times New Roman"/>
                      </a:endParaRPr>
                    </a:p>
                  </a:txBody>
                  <a:tcPr marL="91425" marR="91425" marT="91425" marB="91425">
                    <a:lnL w="9525" cap="flat" cmpd="sng">
                      <a:solidFill>
                        <a:srgbClr val="434343"/>
                      </a:solidFill>
                      <a:prstDash val="solid"/>
                      <a:round/>
                      <a:headEnd type="none" w="sm" len="sm"/>
                      <a:tailEnd type="none" w="sm" len="sm"/>
                    </a:ln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b="1">
                <a:solidFill>
                  <a:srgbClr val="3C78D8"/>
                </a:solidFill>
                <a:latin typeface="Times New Roman"/>
                <a:ea typeface="Times New Roman"/>
                <a:cs typeface="Times New Roman"/>
                <a:sym typeface="Times New Roman"/>
              </a:rPr>
              <a:t>Abstract</a:t>
            </a:r>
            <a:endParaRPr b="1">
              <a:solidFill>
                <a:srgbClr val="3C78D8"/>
              </a:solidFill>
              <a:latin typeface="Times New Roman"/>
              <a:ea typeface="Times New Roman"/>
              <a:cs typeface="Times New Roman"/>
              <a:sym typeface="Times New Roman"/>
            </a:endParaRPr>
          </a:p>
        </p:txBody>
      </p:sp>
      <p:sp>
        <p:nvSpPr>
          <p:cNvPr id="77" name="Google Shape;77;p16"/>
          <p:cNvSpPr txBox="1">
            <a:spLocks noGrp="1"/>
          </p:cNvSpPr>
          <p:nvPr>
            <p:ph type="body" idx="1"/>
          </p:nvPr>
        </p:nvSpPr>
        <p:spPr>
          <a:xfrm>
            <a:off x="311700" y="957493"/>
            <a:ext cx="8520600" cy="3416400"/>
          </a:xfrm>
          <a:prstGeom prst="rect">
            <a:avLst/>
          </a:prstGeom>
        </p:spPr>
        <p:txBody>
          <a:bodyPr spcFirstLastPara="1" wrap="square" lIns="91425" tIns="91425" rIns="91425" bIns="91425" anchor="t" anchorCtr="0">
            <a:noAutofit/>
          </a:bodyPr>
          <a:lstStyle/>
          <a:p>
            <a:pPr marL="0" lvl="0" indent="0" algn="l" rtl="0">
              <a:lnSpc>
                <a:spcPct val="150000"/>
              </a:lnSpc>
              <a:spcBef>
                <a:spcPts val="1200"/>
              </a:spcBef>
              <a:spcAft>
                <a:spcPts val="1200"/>
              </a:spcAft>
              <a:buNone/>
            </a:pPr>
            <a:r>
              <a:rPr lang="en-IN" sz="1600" dirty="0">
                <a:solidFill>
                  <a:schemeClr val="dk1"/>
                </a:solidFill>
                <a:latin typeface="Times New Roman"/>
                <a:ea typeface="Times New Roman"/>
                <a:cs typeface="Times New Roman"/>
                <a:sym typeface="Times New Roman"/>
              </a:rPr>
              <a:t>In the proposed system ,we have developed a IoT based landslide detection system that utilize different type of sensors </a:t>
            </a:r>
            <a:r>
              <a:rPr lang="en-US" sz="1600" dirty="0">
                <a:solidFill>
                  <a:schemeClr val="dk1"/>
                </a:solidFill>
                <a:latin typeface="Times New Roman"/>
                <a:ea typeface="Times New Roman"/>
                <a:cs typeface="Times New Roman"/>
                <a:sym typeface="Times New Roman"/>
              </a:rPr>
              <a:t>to gather data from the field, to identify places that may be prone to landslides based on gathered data and current environmental conditions. In the existing system, the data are inaccurate so it causes the threats to the human life and property devastation. They also can’t analyze the surface and can’t gather efficient data due to the absence of Ground Penetrating Radar. The proposed system is effective and economical. It stores data in the cloud, to analyzes data at the surface level, and collects data using ground penetrating radar, uses Wi-Fi module to facilitate quick data transfer.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rmAutofit fontScale="90000"/>
          </a:bodyPr>
          <a:lstStyle/>
          <a:p>
            <a:pPr marL="0" lvl="0" indent="0" algn="ctr" rtl="0">
              <a:lnSpc>
                <a:spcPct val="115000"/>
              </a:lnSpc>
              <a:spcBef>
                <a:spcPts val="0"/>
              </a:spcBef>
              <a:spcAft>
                <a:spcPts val="0"/>
              </a:spcAft>
              <a:buNone/>
            </a:pPr>
            <a:r>
              <a:rPr lang="en-GB" sz="2782" b="1">
                <a:solidFill>
                  <a:srgbClr val="3C78D8"/>
                </a:solidFill>
                <a:latin typeface="Times New Roman"/>
                <a:ea typeface="Times New Roman"/>
                <a:cs typeface="Times New Roman"/>
                <a:sym typeface="Times New Roman"/>
              </a:rPr>
              <a:t>Introduction</a:t>
            </a:r>
            <a:endParaRPr sz="2894" b="1">
              <a:solidFill>
                <a:srgbClr val="3C78D8"/>
              </a:solidFill>
              <a:latin typeface="Times New Roman"/>
              <a:ea typeface="Times New Roman"/>
              <a:cs typeface="Times New Roman"/>
              <a:sym typeface="Times New Roman"/>
            </a:endParaRPr>
          </a:p>
          <a:p>
            <a:pPr marL="457200" lvl="0" indent="0" algn="ctr" rtl="0">
              <a:lnSpc>
                <a:spcPct val="115000"/>
              </a:lnSpc>
              <a:spcBef>
                <a:spcPts val="1200"/>
              </a:spcBef>
              <a:spcAft>
                <a:spcPts val="1200"/>
              </a:spcAft>
              <a:buNone/>
            </a:pPr>
            <a:endParaRPr sz="2116" b="1">
              <a:solidFill>
                <a:srgbClr val="3C78D8"/>
              </a:solidFill>
              <a:latin typeface="Times New Roman"/>
              <a:ea typeface="Times New Roman"/>
              <a:cs typeface="Times New Roman"/>
              <a:sym typeface="Times New Roman"/>
            </a:endParaRPr>
          </a:p>
        </p:txBody>
      </p:sp>
      <p:sp>
        <p:nvSpPr>
          <p:cNvPr id="83" name="Google Shape;83;p17"/>
          <p:cNvSpPr txBox="1">
            <a:spLocks noGrp="1"/>
          </p:cNvSpPr>
          <p:nvPr>
            <p:ph type="body" idx="1"/>
          </p:nvPr>
        </p:nvSpPr>
        <p:spPr>
          <a:xfrm>
            <a:off x="311700" y="591670"/>
            <a:ext cx="8520600" cy="4551829"/>
          </a:xfrm>
          <a:prstGeom prst="rect">
            <a:avLst/>
          </a:prstGeom>
        </p:spPr>
        <p:txBody>
          <a:bodyPr spcFirstLastPara="1" wrap="square" lIns="91425" tIns="91425" rIns="91425" bIns="91425" anchor="t" anchorCtr="0">
            <a:normAutofit/>
          </a:bodyPr>
          <a:lstStyle/>
          <a:p>
            <a:pPr marL="457200" lvl="0" indent="-342900" algn="l" rtl="0">
              <a:lnSpc>
                <a:spcPct val="160000"/>
              </a:lnSpc>
              <a:spcBef>
                <a:spcPts val="0"/>
              </a:spcBef>
              <a:spcAft>
                <a:spcPts val="0"/>
              </a:spcAft>
              <a:buClr>
                <a:schemeClr val="dk1"/>
              </a:buClr>
              <a:buSzPts val="1800"/>
              <a:buFont typeface="Times New Roman"/>
              <a:buChar char="●"/>
            </a:pPr>
            <a:r>
              <a:rPr lang="en-US" sz="1600" dirty="0">
                <a:solidFill>
                  <a:schemeClr val="dk1"/>
                </a:solidFill>
                <a:latin typeface="Times New Roman"/>
                <a:ea typeface="Times New Roman"/>
                <a:cs typeface="Times New Roman"/>
                <a:sym typeface="Times New Roman"/>
              </a:rPr>
              <a:t>In the suggested system, we have created an Internet of Things (IoT) based landslide detection system that uses several types of sensors to collect field data and identify locations that might be vulnerable to landslides based on the data collected and the current environmental conditions.</a:t>
            </a:r>
          </a:p>
          <a:p>
            <a:pPr marL="457200" lvl="0" indent="-342900" algn="l" rtl="0">
              <a:lnSpc>
                <a:spcPct val="160000"/>
              </a:lnSpc>
              <a:spcBef>
                <a:spcPts val="0"/>
              </a:spcBef>
              <a:spcAft>
                <a:spcPts val="0"/>
              </a:spcAft>
              <a:buClr>
                <a:schemeClr val="dk1"/>
              </a:buClr>
              <a:buSzPts val="1800"/>
              <a:buFont typeface="Times New Roman"/>
              <a:buChar char="●"/>
            </a:pPr>
            <a:r>
              <a:rPr lang="en-US" sz="1600" dirty="0">
                <a:solidFill>
                  <a:schemeClr val="dk1"/>
                </a:solidFill>
                <a:latin typeface="Times New Roman"/>
                <a:ea typeface="Times New Roman"/>
                <a:cs typeface="Times New Roman"/>
                <a:sym typeface="Times New Roman"/>
              </a:rPr>
              <a:t> The data in the current system are erroneous, endangering human life and causing destruction to property. </a:t>
            </a:r>
          </a:p>
          <a:p>
            <a:pPr marL="457200" lvl="0" indent="-342900" algn="l" rtl="0">
              <a:lnSpc>
                <a:spcPct val="160000"/>
              </a:lnSpc>
              <a:spcBef>
                <a:spcPts val="0"/>
              </a:spcBef>
              <a:spcAft>
                <a:spcPts val="0"/>
              </a:spcAft>
              <a:buClr>
                <a:schemeClr val="dk1"/>
              </a:buClr>
              <a:buSzPts val="1800"/>
              <a:buFont typeface="Times New Roman"/>
              <a:buChar char="●"/>
            </a:pPr>
            <a:r>
              <a:rPr lang="en-US" sz="1600" dirty="0">
                <a:solidFill>
                  <a:schemeClr val="dk1"/>
                </a:solidFill>
                <a:latin typeface="Times New Roman"/>
                <a:ea typeface="Times New Roman"/>
                <a:cs typeface="Times New Roman"/>
                <a:sym typeface="Times New Roman"/>
              </a:rPr>
              <a:t>Additionally, because Ground Penetrating Radar is not available, they are unable to study the surface or collect effective data.</a:t>
            </a:r>
          </a:p>
          <a:p>
            <a:pPr marL="457200" lvl="0" indent="-342900" algn="l" rtl="0">
              <a:lnSpc>
                <a:spcPct val="160000"/>
              </a:lnSpc>
              <a:spcBef>
                <a:spcPts val="0"/>
              </a:spcBef>
              <a:spcAft>
                <a:spcPts val="0"/>
              </a:spcAft>
              <a:buClr>
                <a:schemeClr val="dk1"/>
              </a:buClr>
              <a:buSzPts val="1800"/>
              <a:buFont typeface="Times New Roman"/>
              <a:buChar char="●"/>
            </a:pPr>
            <a:r>
              <a:rPr lang="en-US" sz="1600" dirty="0">
                <a:solidFill>
                  <a:schemeClr val="dk1"/>
                </a:solidFill>
                <a:latin typeface="Times New Roman"/>
                <a:ea typeface="Times New Roman"/>
                <a:cs typeface="Times New Roman"/>
                <a:sym typeface="Times New Roman"/>
              </a:rPr>
              <a:t> The suggested system is both inexpensive and efficient.</a:t>
            </a:r>
          </a:p>
          <a:p>
            <a:pPr marL="457200" lvl="0" indent="-342900" algn="l" rtl="0">
              <a:lnSpc>
                <a:spcPct val="160000"/>
              </a:lnSpc>
              <a:spcBef>
                <a:spcPts val="0"/>
              </a:spcBef>
              <a:spcAft>
                <a:spcPts val="0"/>
              </a:spcAft>
              <a:buClr>
                <a:schemeClr val="dk1"/>
              </a:buClr>
              <a:buSzPts val="1800"/>
              <a:buFont typeface="Times New Roman"/>
              <a:buChar char="●"/>
            </a:pPr>
            <a:r>
              <a:rPr lang="en-US" sz="1600" dirty="0">
                <a:solidFill>
                  <a:schemeClr val="dk1"/>
                </a:solidFill>
                <a:latin typeface="Times New Roman"/>
                <a:ea typeface="Times New Roman"/>
                <a:cs typeface="Times New Roman"/>
                <a:sym typeface="Times New Roman"/>
              </a:rPr>
              <a:t> It employs a Wi-Fi module to enable speedy data transfer, stores data in the cloud, analyzes data at the surface, and gathers data using ground penetrating radar.</a:t>
            </a:r>
            <a:endParaRPr lang="en-IN" sz="16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3BAE7-1F0B-4F79-959A-027A1CDDD96C}"/>
              </a:ext>
            </a:extLst>
          </p:cNvPr>
          <p:cNvSpPr>
            <a:spLocks noGrp="1"/>
          </p:cNvSpPr>
          <p:nvPr>
            <p:ph type="title"/>
          </p:nvPr>
        </p:nvSpPr>
        <p:spPr/>
        <p:txBody>
          <a:bodyPr anchor="ctr">
            <a:normAutofit fontScale="90000"/>
          </a:bodyPr>
          <a:lstStyle/>
          <a:p>
            <a:pPr algn="ctr">
              <a:lnSpc>
                <a:spcPct val="150000"/>
              </a:lnSpc>
            </a:pPr>
            <a:r>
              <a:rPr lang="en-GB" b="1" dirty="0">
                <a:solidFill>
                  <a:srgbClr val="0070C0"/>
                </a:solidFill>
                <a:latin typeface="Times New Roman" panose="02020603050405020304" pitchFamily="18" charset="0"/>
                <a:cs typeface="Times New Roman" panose="02020603050405020304" pitchFamily="18" charset="0"/>
              </a:rPr>
              <a:t>Literature Survey</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EEC286B-1B07-484A-917E-CAFDA6ADDDDE}"/>
              </a:ext>
            </a:extLst>
          </p:cNvPr>
          <p:cNvSpPr>
            <a:spLocks noGrp="1"/>
          </p:cNvSpPr>
          <p:nvPr>
            <p:ph type="body" idx="1"/>
          </p:nvPr>
        </p:nvSpPr>
        <p:spPr/>
        <p:txBody>
          <a:bodyPr/>
          <a:lstStyle/>
          <a:p>
            <a:endParaRPr lang="en-IN" dirty="0">
              <a:latin typeface="Times New Roman" panose="02020603050405020304" pitchFamily="18" charset="0"/>
              <a:cs typeface="Times New Roman" panose="02020603050405020304" pitchFamily="18" charset="0"/>
            </a:endParaRPr>
          </a:p>
        </p:txBody>
      </p:sp>
      <p:graphicFrame>
        <p:nvGraphicFramePr>
          <p:cNvPr id="7" name="Table 7">
            <a:extLst>
              <a:ext uri="{FF2B5EF4-FFF2-40B4-BE49-F238E27FC236}">
                <a16:creationId xmlns:a16="http://schemas.microsoft.com/office/drawing/2014/main" id="{916C6B74-C7CE-4F19-B4FB-B0F3D6A44F64}"/>
              </a:ext>
            </a:extLst>
          </p:cNvPr>
          <p:cNvGraphicFramePr>
            <a:graphicFrameLocks noGrp="1"/>
          </p:cNvGraphicFramePr>
          <p:nvPr>
            <p:extLst>
              <p:ext uri="{D42A27DB-BD31-4B8C-83A1-F6EECF244321}">
                <p14:modId xmlns:p14="http://schemas.microsoft.com/office/powerpoint/2010/main" val="2549006208"/>
              </p:ext>
            </p:extLst>
          </p:nvPr>
        </p:nvGraphicFramePr>
        <p:xfrm>
          <a:off x="769843" y="1100436"/>
          <a:ext cx="7604313" cy="3205480"/>
        </p:xfrm>
        <a:graphic>
          <a:graphicData uri="http://schemas.openxmlformats.org/drawingml/2006/table">
            <a:tbl>
              <a:tblPr firstRow="1" bandRow="1">
                <a:tableStyleId>{5940675A-B579-460E-94D1-54222C63F5DA}</a:tableStyleId>
              </a:tblPr>
              <a:tblGrid>
                <a:gridCol w="2534771">
                  <a:extLst>
                    <a:ext uri="{9D8B030D-6E8A-4147-A177-3AD203B41FA5}">
                      <a16:colId xmlns:a16="http://schemas.microsoft.com/office/drawing/2014/main" val="3281229482"/>
                    </a:ext>
                  </a:extLst>
                </a:gridCol>
                <a:gridCol w="2534771">
                  <a:extLst>
                    <a:ext uri="{9D8B030D-6E8A-4147-A177-3AD203B41FA5}">
                      <a16:colId xmlns:a16="http://schemas.microsoft.com/office/drawing/2014/main" val="3424916197"/>
                    </a:ext>
                  </a:extLst>
                </a:gridCol>
                <a:gridCol w="2534771">
                  <a:extLst>
                    <a:ext uri="{9D8B030D-6E8A-4147-A177-3AD203B41FA5}">
                      <a16:colId xmlns:a16="http://schemas.microsoft.com/office/drawing/2014/main" val="1230829192"/>
                    </a:ext>
                  </a:extLst>
                </a:gridCol>
              </a:tblGrid>
              <a:tr h="370840">
                <a:tc>
                  <a:txBody>
                    <a:bodyPr/>
                    <a:lstStyle/>
                    <a:p>
                      <a:r>
                        <a:rPr lang="en-GB" sz="1400" b="1" dirty="0">
                          <a:latin typeface="Times New Roman" panose="02020603050405020304" pitchFamily="18" charset="0"/>
                          <a:cs typeface="Times New Roman" panose="02020603050405020304" pitchFamily="18" charset="0"/>
                        </a:rPr>
                        <a:t>Title</a:t>
                      </a:r>
                      <a:endParaRPr lang="en-IN" sz="1400" b="1" dirty="0">
                        <a:latin typeface="Times New Roman" panose="02020603050405020304" pitchFamily="18" charset="0"/>
                        <a:cs typeface="Times New Roman" panose="02020603050405020304" pitchFamily="18" charset="0"/>
                      </a:endParaRPr>
                    </a:p>
                  </a:txBody>
                  <a:tcPr>
                    <a:solidFill>
                      <a:schemeClr val="bg1">
                        <a:lumMod val="65000"/>
                      </a:schemeClr>
                    </a:solidFill>
                  </a:tcPr>
                </a:tc>
                <a:tc>
                  <a:txBody>
                    <a:bodyPr/>
                    <a:lstStyle/>
                    <a:p>
                      <a:r>
                        <a:rPr lang="en-GB" sz="1400" b="1" dirty="0">
                          <a:latin typeface="Times New Roman" panose="02020603050405020304" pitchFamily="18" charset="0"/>
                          <a:cs typeface="Times New Roman" panose="02020603050405020304" pitchFamily="18" charset="0"/>
                        </a:rPr>
                        <a:t>Author</a:t>
                      </a:r>
                      <a:endParaRPr lang="en-IN" sz="1400" b="1" dirty="0">
                        <a:latin typeface="Times New Roman" panose="02020603050405020304" pitchFamily="18" charset="0"/>
                        <a:cs typeface="Times New Roman" panose="02020603050405020304" pitchFamily="18" charset="0"/>
                      </a:endParaRPr>
                    </a:p>
                  </a:txBody>
                  <a:tcPr>
                    <a:solidFill>
                      <a:schemeClr val="bg1">
                        <a:lumMod val="65000"/>
                      </a:schemeClr>
                    </a:solidFill>
                  </a:tcPr>
                </a:tc>
                <a:tc>
                  <a:txBody>
                    <a:bodyPr/>
                    <a:lstStyle/>
                    <a:p>
                      <a:r>
                        <a:rPr lang="en-GB" sz="1400" b="1" dirty="0">
                          <a:latin typeface="Times New Roman" panose="02020603050405020304" pitchFamily="18" charset="0"/>
                          <a:cs typeface="Times New Roman" panose="02020603050405020304" pitchFamily="18" charset="0"/>
                        </a:rPr>
                        <a:t>Journal &amp; Year</a:t>
                      </a:r>
                      <a:endParaRPr lang="en-IN" sz="1400" b="1" dirty="0">
                        <a:latin typeface="Times New Roman" panose="02020603050405020304" pitchFamily="18" charset="0"/>
                        <a:cs typeface="Times New Roman" panose="02020603050405020304" pitchFamily="18" charset="0"/>
                      </a:endParaRPr>
                    </a:p>
                  </a:txBody>
                  <a:tcPr>
                    <a:solidFill>
                      <a:schemeClr val="bg1">
                        <a:lumMod val="65000"/>
                      </a:schemeClr>
                    </a:solidFill>
                  </a:tcPr>
                </a:tc>
                <a:extLst>
                  <a:ext uri="{0D108BD9-81ED-4DB2-BD59-A6C34878D82A}">
                    <a16:rowId xmlns:a16="http://schemas.microsoft.com/office/drawing/2014/main" val="1635228966"/>
                  </a:ext>
                </a:extLst>
              </a:tr>
              <a:tr h="370840">
                <a:tc>
                  <a:txBody>
                    <a:bodyPr/>
                    <a:lstStyle/>
                    <a:p>
                      <a:r>
                        <a:rPr lang="en-GB" sz="1400" dirty="0">
                          <a:solidFill>
                            <a:schemeClr val="dk1"/>
                          </a:solidFill>
                          <a:latin typeface="Times New Roman"/>
                          <a:ea typeface="Times New Roman"/>
                          <a:cs typeface="Times New Roman"/>
                          <a:sym typeface="Times New Roman"/>
                        </a:rPr>
                        <a:t>Efficient IoT-enabled Landslide Monitoring</a:t>
                      </a:r>
                      <a:endParaRPr lang="en-IN" sz="1400" dirty="0"/>
                    </a:p>
                  </a:txBody>
                  <a:tcPr/>
                </a:tc>
                <a:tc>
                  <a:txBody>
                    <a:bodyPr/>
                    <a:lstStyle/>
                    <a:p>
                      <a:r>
                        <a:rPr lang="en-IN" sz="1400" b="0" i="0" u="none" strike="noStrike" cap="none" baseline="0" dirty="0">
                          <a:solidFill>
                            <a:schemeClr val="tx1"/>
                          </a:solidFill>
                          <a:latin typeface="Times New Roman" panose="02020603050405020304" pitchFamily="18" charset="0"/>
                          <a:ea typeface="+mn-ea"/>
                          <a:cs typeface="Times New Roman" panose="02020603050405020304" pitchFamily="18" charset="0"/>
                          <a:sym typeface="Arial"/>
                        </a:rPr>
                        <a:t>Matthew Butler, </a:t>
                      </a:r>
                      <a:endParaRPr lang="fr-FR" sz="1400" b="0" i="0" u="none" strike="noStrike" cap="none" baseline="0" dirty="0">
                        <a:solidFill>
                          <a:schemeClr val="tx1"/>
                        </a:solidFill>
                        <a:latin typeface="Times New Roman" panose="02020603050405020304" pitchFamily="18" charset="0"/>
                        <a:ea typeface="+mn-ea"/>
                        <a:cs typeface="Times New Roman" panose="02020603050405020304" pitchFamily="18" charset="0"/>
                        <a:sym typeface="Arial"/>
                      </a:endParaRPr>
                    </a:p>
                    <a:p>
                      <a:r>
                        <a:rPr lang="en-IN" sz="1400" b="0" i="0" u="none" strike="noStrike" cap="none" baseline="0" dirty="0" err="1">
                          <a:solidFill>
                            <a:schemeClr val="tx1"/>
                          </a:solidFill>
                          <a:latin typeface="Times New Roman" panose="02020603050405020304" pitchFamily="18" charset="0"/>
                          <a:ea typeface="+mn-ea"/>
                          <a:cs typeface="Times New Roman" panose="02020603050405020304" pitchFamily="18" charset="0"/>
                          <a:sym typeface="Arial"/>
                        </a:rPr>
                        <a:t>Dr.</a:t>
                      </a:r>
                      <a:r>
                        <a:rPr lang="en-IN" sz="1400" b="0" i="0" u="none" strike="noStrike" cap="none" baseline="0" dirty="0">
                          <a:solidFill>
                            <a:schemeClr val="tx1"/>
                          </a:solidFill>
                          <a:latin typeface="Times New Roman" panose="02020603050405020304" pitchFamily="18" charset="0"/>
                          <a:ea typeface="+mn-ea"/>
                          <a:cs typeface="Times New Roman" panose="02020603050405020304" pitchFamily="18" charset="0"/>
                          <a:sym typeface="Arial"/>
                        </a:rPr>
                        <a:t> </a:t>
                      </a:r>
                      <a:r>
                        <a:rPr lang="en-IN" sz="1400" b="0" i="0" u="none" strike="noStrike" cap="none" baseline="0" dirty="0" err="1">
                          <a:solidFill>
                            <a:schemeClr val="tx1"/>
                          </a:solidFill>
                          <a:latin typeface="Times New Roman" panose="02020603050405020304" pitchFamily="18" charset="0"/>
                          <a:ea typeface="+mn-ea"/>
                          <a:cs typeface="Times New Roman" panose="02020603050405020304" pitchFamily="18" charset="0"/>
                          <a:sym typeface="Arial"/>
                        </a:rPr>
                        <a:t>Marios</a:t>
                      </a:r>
                      <a:r>
                        <a:rPr lang="en-IN" sz="1400" b="0" i="0" u="none" strike="noStrike" cap="none" baseline="0" dirty="0">
                          <a:solidFill>
                            <a:schemeClr val="tx1"/>
                          </a:solidFill>
                          <a:latin typeface="Times New Roman" panose="02020603050405020304" pitchFamily="18" charset="0"/>
                          <a:ea typeface="+mn-ea"/>
                          <a:cs typeface="Times New Roman" panose="02020603050405020304" pitchFamily="18" charset="0"/>
                          <a:sym typeface="Arial"/>
                        </a:rPr>
                        <a:t> Angelopoulos,</a:t>
                      </a:r>
                      <a:endParaRPr lang="fr-FR" sz="1400" b="0" i="0" u="none" strike="noStrike" cap="none" baseline="0" dirty="0">
                        <a:solidFill>
                          <a:schemeClr val="tx1"/>
                        </a:solidFill>
                        <a:latin typeface="Times New Roman" panose="02020603050405020304" pitchFamily="18" charset="0"/>
                        <a:ea typeface="+mn-ea"/>
                        <a:cs typeface="Times New Roman" panose="02020603050405020304" pitchFamily="18" charset="0"/>
                        <a:sym typeface="Arial"/>
                      </a:endParaRPr>
                    </a:p>
                    <a:p>
                      <a:r>
                        <a:rPr lang="en-IN" sz="1400" b="0" i="0" u="none" strike="noStrike" cap="none" baseline="0" dirty="0">
                          <a:solidFill>
                            <a:schemeClr val="tx1"/>
                          </a:solidFill>
                          <a:latin typeface="Times New Roman" panose="02020603050405020304" pitchFamily="18" charset="0"/>
                          <a:ea typeface="+mn-ea"/>
                          <a:cs typeface="Times New Roman" panose="02020603050405020304" pitchFamily="18" charset="0"/>
                          <a:sym typeface="Arial"/>
                        </a:rPr>
                        <a:t>Doug </a:t>
                      </a:r>
                      <a:r>
                        <a:rPr lang="en-IN" sz="1400" b="0" i="0" u="none" strike="noStrike" cap="none" baseline="0" dirty="0" err="1">
                          <a:solidFill>
                            <a:schemeClr val="tx1"/>
                          </a:solidFill>
                          <a:latin typeface="Times New Roman" panose="02020603050405020304" pitchFamily="18" charset="0"/>
                          <a:ea typeface="+mn-ea"/>
                          <a:cs typeface="Times New Roman" panose="02020603050405020304" pitchFamily="18" charset="0"/>
                          <a:sym typeface="Arial"/>
                        </a:rPr>
                        <a:t>Mahy</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baseline="0" dirty="0">
                          <a:solidFill>
                            <a:schemeClr val="tx1"/>
                          </a:solidFill>
                          <a:latin typeface="Times New Roman" panose="02020603050405020304" pitchFamily="18" charset="0"/>
                          <a:ea typeface="+mn-ea"/>
                          <a:cs typeface="Times New Roman" panose="02020603050405020304" pitchFamily="18" charset="0"/>
                          <a:sym typeface="Arial"/>
                        </a:rPr>
                        <a:t>IEEE, 2020</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80932628"/>
                  </a:ext>
                </a:extLst>
              </a:tr>
              <a:tr h="370840">
                <a:tc>
                  <a:txBody>
                    <a:bodyPr/>
                    <a:lstStyle/>
                    <a:p>
                      <a:r>
                        <a:rPr lang="en-GB" sz="1400">
                          <a:solidFill>
                            <a:schemeClr val="dk1"/>
                          </a:solidFill>
                          <a:latin typeface="Times New Roman"/>
                          <a:ea typeface="Times New Roman"/>
                          <a:cs typeface="Times New Roman"/>
                          <a:sym typeface="Times New Roman"/>
                        </a:rPr>
                        <a:t>Unmanned Aerial Vehicle Surveying and Mapping Trajectory</a:t>
                      </a:r>
                    </a:p>
                    <a:p>
                      <a:r>
                        <a:rPr lang="en-GB" sz="1400">
                          <a:solidFill>
                            <a:schemeClr val="dk1"/>
                          </a:solidFill>
                          <a:latin typeface="Times New Roman"/>
                          <a:ea typeface="Times New Roman"/>
                          <a:cs typeface="Times New Roman"/>
                          <a:sym typeface="Times New Roman"/>
                        </a:rPr>
                        <a:t>Scheduling and Autonomous Control for Landslide Monitoring</a:t>
                      </a:r>
                      <a:endParaRPr lang="en-IN" sz="1400" dirty="0"/>
                    </a:p>
                  </a:txBody>
                  <a:tcPr/>
                </a:tc>
                <a:tc>
                  <a:txBody>
                    <a:bodyPr/>
                    <a:lstStyle/>
                    <a:p>
                      <a:r>
                        <a:rPr lang="en-GB" sz="1400" dirty="0" err="1">
                          <a:solidFill>
                            <a:schemeClr val="dk1"/>
                          </a:solidFill>
                          <a:latin typeface="Times New Roman"/>
                          <a:ea typeface="Times New Roman"/>
                          <a:cs typeface="Times New Roman"/>
                          <a:sym typeface="Times New Roman"/>
                        </a:rPr>
                        <a:t>Shifang</a:t>
                      </a:r>
                      <a:r>
                        <a:rPr lang="en-GB" sz="1400" dirty="0">
                          <a:solidFill>
                            <a:schemeClr val="dk1"/>
                          </a:solidFill>
                          <a:latin typeface="Times New Roman"/>
                          <a:ea typeface="Times New Roman"/>
                          <a:cs typeface="Times New Roman"/>
                          <a:sym typeface="Times New Roman"/>
                        </a:rPr>
                        <a:t> Liao, </a:t>
                      </a:r>
                      <a:r>
                        <a:rPr lang="en-GB" sz="1400" dirty="0" err="1">
                          <a:solidFill>
                            <a:schemeClr val="dk1"/>
                          </a:solidFill>
                          <a:latin typeface="Times New Roman"/>
                          <a:ea typeface="Times New Roman"/>
                          <a:cs typeface="Times New Roman"/>
                          <a:sym typeface="Times New Roman"/>
                        </a:rPr>
                        <a:t>Manzhu</a:t>
                      </a:r>
                      <a:r>
                        <a:rPr lang="en-GB" sz="1400" dirty="0">
                          <a:solidFill>
                            <a:schemeClr val="dk1"/>
                          </a:solidFill>
                          <a:latin typeface="Times New Roman"/>
                          <a:ea typeface="Times New Roman"/>
                          <a:cs typeface="Times New Roman"/>
                          <a:sym typeface="Times New Roman"/>
                        </a:rPr>
                        <a:t> Ye, </a:t>
                      </a:r>
                      <a:r>
                        <a:rPr lang="en-GB" sz="1400" dirty="0" err="1">
                          <a:solidFill>
                            <a:schemeClr val="dk1"/>
                          </a:solidFill>
                          <a:latin typeface="Times New Roman"/>
                          <a:ea typeface="Times New Roman"/>
                          <a:cs typeface="Times New Roman"/>
                          <a:sym typeface="Times New Roman"/>
                        </a:rPr>
                        <a:t>Rongcai</a:t>
                      </a:r>
                      <a:r>
                        <a:rPr lang="en-GB" sz="1400" dirty="0">
                          <a:solidFill>
                            <a:schemeClr val="dk1"/>
                          </a:solidFill>
                          <a:latin typeface="Times New Roman"/>
                          <a:ea typeface="Times New Roman"/>
                          <a:cs typeface="Times New Roman"/>
                          <a:sym typeface="Times New Roman"/>
                        </a:rPr>
                        <a:t> Yuan, and </a:t>
                      </a:r>
                      <a:r>
                        <a:rPr lang="en-GB" sz="1400" dirty="0" err="1">
                          <a:solidFill>
                            <a:schemeClr val="dk1"/>
                          </a:solidFill>
                          <a:latin typeface="Times New Roman"/>
                          <a:ea typeface="Times New Roman"/>
                          <a:cs typeface="Times New Roman"/>
                          <a:sym typeface="Times New Roman"/>
                        </a:rPr>
                        <a:t>Wanzhi</a:t>
                      </a:r>
                      <a:r>
                        <a:rPr lang="en-GB" sz="1400" dirty="0">
                          <a:solidFill>
                            <a:schemeClr val="dk1"/>
                          </a:solidFill>
                          <a:latin typeface="Times New Roman"/>
                          <a:ea typeface="Times New Roman"/>
                          <a:cs typeface="Times New Roman"/>
                          <a:sym typeface="Times New Roman"/>
                        </a:rPr>
                        <a:t> Ma</a:t>
                      </a:r>
                      <a:endParaRPr lang="en-IN" sz="1400" dirty="0"/>
                    </a:p>
                  </a:txBody>
                  <a:tcPr/>
                </a:tc>
                <a:tc>
                  <a:txBody>
                    <a:bodyPr/>
                    <a:lstStyle/>
                    <a:p>
                      <a:r>
                        <a:rPr lang="en-GB" sz="1400" dirty="0" err="1">
                          <a:solidFill>
                            <a:schemeClr val="dk1"/>
                          </a:solidFill>
                          <a:latin typeface="Times New Roman"/>
                          <a:ea typeface="Times New Roman"/>
                          <a:cs typeface="Times New Roman"/>
                          <a:sym typeface="Times New Roman"/>
                        </a:rPr>
                        <a:t>Hindawi</a:t>
                      </a:r>
                      <a:endParaRPr lang="en-GB" sz="1400" dirty="0">
                        <a:solidFill>
                          <a:schemeClr val="dk1"/>
                        </a:solidFill>
                        <a:latin typeface="Times New Roman"/>
                        <a:ea typeface="Times New Roman"/>
                        <a:cs typeface="Times New Roman"/>
                        <a:sym typeface="Times New Roman"/>
                      </a:endParaRPr>
                    </a:p>
                    <a:p>
                      <a:r>
                        <a:rPr lang="en-GB" sz="1400" dirty="0">
                          <a:solidFill>
                            <a:schemeClr val="dk1"/>
                          </a:solidFill>
                          <a:latin typeface="Times New Roman"/>
                          <a:ea typeface="Times New Roman"/>
                          <a:cs typeface="Times New Roman"/>
                          <a:sym typeface="Times New Roman"/>
                        </a:rPr>
                        <a:t>Journal of Robotics</a:t>
                      </a:r>
                    </a:p>
                    <a:p>
                      <a:r>
                        <a:rPr lang="en-GB" sz="1400" dirty="0">
                          <a:solidFill>
                            <a:schemeClr val="dk1"/>
                          </a:solidFill>
                          <a:latin typeface="Times New Roman"/>
                          <a:ea typeface="Times New Roman"/>
                          <a:cs typeface="Times New Roman"/>
                          <a:sym typeface="Times New Roman"/>
                        </a:rPr>
                        <a:t>Volume 2022,</a:t>
                      </a:r>
                      <a:endParaRPr lang="en-IN" sz="1400" dirty="0"/>
                    </a:p>
                  </a:txBody>
                  <a:tcPr/>
                </a:tc>
                <a:extLst>
                  <a:ext uri="{0D108BD9-81ED-4DB2-BD59-A6C34878D82A}">
                    <a16:rowId xmlns:a16="http://schemas.microsoft.com/office/drawing/2014/main" val="578247201"/>
                  </a:ext>
                </a:extLst>
              </a:tr>
              <a:tr h="370840">
                <a:tc>
                  <a:txBody>
                    <a:bodyPr/>
                    <a:lstStyle/>
                    <a:p>
                      <a:r>
                        <a:rPr lang="en-GB" sz="1400" dirty="0">
                          <a:solidFill>
                            <a:schemeClr val="dk1"/>
                          </a:solidFill>
                          <a:latin typeface="Times New Roman"/>
                          <a:ea typeface="Times New Roman"/>
                          <a:cs typeface="Times New Roman"/>
                          <a:sym typeface="Times New Roman"/>
                        </a:rPr>
                        <a:t>IOT Based Landslide Detection</a:t>
                      </a:r>
                      <a:endParaRPr lang="en-IN" sz="1400" dirty="0"/>
                    </a:p>
                  </a:txBody>
                  <a:tcPr/>
                </a:tc>
                <a:tc>
                  <a:txBody>
                    <a:bodyPr/>
                    <a:lstStyle/>
                    <a:p>
                      <a:r>
                        <a:rPr lang="en-GB" sz="1400" dirty="0">
                          <a:solidFill>
                            <a:schemeClr val="dk1"/>
                          </a:solidFill>
                          <a:latin typeface="Times New Roman"/>
                          <a:ea typeface="Times New Roman"/>
                          <a:cs typeface="Times New Roman"/>
                          <a:sym typeface="Times New Roman"/>
                        </a:rPr>
                        <a:t>Sanjay </a:t>
                      </a:r>
                      <a:r>
                        <a:rPr lang="en-GB" sz="1400" dirty="0" err="1">
                          <a:solidFill>
                            <a:schemeClr val="dk1"/>
                          </a:solidFill>
                          <a:latin typeface="Times New Roman"/>
                          <a:ea typeface="Times New Roman"/>
                          <a:cs typeface="Times New Roman"/>
                          <a:sym typeface="Times New Roman"/>
                        </a:rPr>
                        <a:t>Kewat</a:t>
                      </a:r>
                      <a:r>
                        <a:rPr lang="en-GB" sz="1400" dirty="0">
                          <a:solidFill>
                            <a:schemeClr val="dk1"/>
                          </a:solidFill>
                          <a:latin typeface="Times New Roman"/>
                          <a:ea typeface="Times New Roman"/>
                          <a:cs typeface="Times New Roman"/>
                          <a:sym typeface="Times New Roman"/>
                        </a:rPr>
                        <a:t>, Abhijeet Mane, Prem </a:t>
                      </a:r>
                      <a:r>
                        <a:rPr lang="en-GB" sz="1400" dirty="0" err="1">
                          <a:solidFill>
                            <a:schemeClr val="dk1"/>
                          </a:solidFill>
                          <a:latin typeface="Times New Roman"/>
                          <a:ea typeface="Times New Roman"/>
                          <a:cs typeface="Times New Roman"/>
                          <a:sym typeface="Times New Roman"/>
                        </a:rPr>
                        <a:t>Mevada</a:t>
                      </a:r>
                      <a:r>
                        <a:rPr lang="en-GB" sz="1400" dirty="0">
                          <a:solidFill>
                            <a:schemeClr val="dk1"/>
                          </a:solidFill>
                          <a:latin typeface="Times New Roman"/>
                          <a:ea typeface="Times New Roman"/>
                          <a:cs typeface="Times New Roman"/>
                          <a:sym typeface="Times New Roman"/>
                        </a:rPr>
                        <a:t>, Prof. Satish </a:t>
                      </a:r>
                      <a:r>
                        <a:rPr lang="en-GB" sz="1400" dirty="0" err="1">
                          <a:solidFill>
                            <a:schemeClr val="dk1"/>
                          </a:solidFill>
                          <a:latin typeface="Times New Roman"/>
                          <a:ea typeface="Times New Roman"/>
                          <a:cs typeface="Times New Roman"/>
                          <a:sym typeface="Times New Roman"/>
                        </a:rPr>
                        <a:t>Kuchiwale</a:t>
                      </a:r>
                      <a:endParaRPr lang="en-IN" sz="1400" dirty="0"/>
                    </a:p>
                  </a:txBody>
                  <a:tcPr/>
                </a:tc>
                <a:tc>
                  <a:txBody>
                    <a:bodyPr/>
                    <a:lstStyle/>
                    <a:p>
                      <a:r>
                        <a:rPr lang="en-GB" sz="1400" dirty="0">
                          <a:solidFill>
                            <a:schemeClr val="dk1"/>
                          </a:solidFill>
                          <a:latin typeface="Times New Roman"/>
                          <a:ea typeface="Times New Roman"/>
                          <a:cs typeface="Times New Roman"/>
                          <a:sym typeface="Times New Roman"/>
                        </a:rPr>
                        <a:t>International Research Journal of Engineering and Technology, 2022</a:t>
                      </a:r>
                      <a:endParaRPr lang="en-IN" sz="1400" dirty="0"/>
                    </a:p>
                  </a:txBody>
                  <a:tcPr/>
                </a:tc>
                <a:extLst>
                  <a:ext uri="{0D108BD9-81ED-4DB2-BD59-A6C34878D82A}">
                    <a16:rowId xmlns:a16="http://schemas.microsoft.com/office/drawing/2014/main" val="2714161468"/>
                  </a:ext>
                </a:extLst>
              </a:tr>
            </a:tbl>
          </a:graphicData>
        </a:graphic>
      </p:graphicFrame>
    </p:spTree>
    <p:extLst>
      <p:ext uri="{BB962C8B-B14F-4D97-AF65-F5344CB8AC3E}">
        <p14:creationId xmlns:p14="http://schemas.microsoft.com/office/powerpoint/2010/main" val="1603235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990"/>
              <a:buNone/>
            </a:pPr>
            <a:r>
              <a:rPr lang="en-GB" sz="2500" b="1" dirty="0">
                <a:solidFill>
                  <a:srgbClr val="3C78D8"/>
                </a:solidFill>
                <a:latin typeface="Times New Roman"/>
                <a:ea typeface="Times New Roman"/>
                <a:cs typeface="Times New Roman"/>
                <a:sym typeface="Times New Roman"/>
              </a:rPr>
              <a:t> Problem Definition</a:t>
            </a:r>
            <a:endParaRPr sz="2500" b="1" dirty="0">
              <a:solidFill>
                <a:srgbClr val="3C78D8"/>
              </a:solidFill>
              <a:latin typeface="Times New Roman"/>
              <a:ea typeface="Times New Roman"/>
              <a:cs typeface="Times New Roman"/>
              <a:sym typeface="Times New Roman"/>
            </a:endParaRPr>
          </a:p>
          <a:p>
            <a:pPr marL="0" lvl="0" indent="0" algn="ctr" rtl="0">
              <a:spcBef>
                <a:spcPts val="1200"/>
              </a:spcBef>
              <a:spcAft>
                <a:spcPts val="0"/>
              </a:spcAft>
              <a:buSzPts val="990"/>
              <a:buNone/>
            </a:pPr>
            <a:endParaRPr sz="2500" b="1" dirty="0">
              <a:solidFill>
                <a:srgbClr val="3C78D8"/>
              </a:solidFill>
            </a:endParaRPr>
          </a:p>
        </p:txBody>
      </p:sp>
      <p:sp>
        <p:nvSpPr>
          <p:cNvPr id="89" name="Google Shape;89;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lnSpc>
                <a:spcPct val="160000"/>
              </a:lnSpc>
              <a:spcBef>
                <a:spcPts val="0"/>
              </a:spcBef>
              <a:spcAft>
                <a:spcPts val="0"/>
              </a:spcAft>
              <a:buClr>
                <a:schemeClr val="dk1"/>
              </a:buClr>
              <a:buSzPts val="1800"/>
              <a:buFont typeface="Times New Roman"/>
              <a:buChar char="●"/>
            </a:pPr>
            <a:r>
              <a:rPr lang="en-GB" dirty="0">
                <a:solidFill>
                  <a:schemeClr val="dk1"/>
                </a:solidFill>
                <a:latin typeface="Times New Roman"/>
                <a:ea typeface="Times New Roman"/>
                <a:cs typeface="Times New Roman"/>
                <a:sym typeface="Times New Roman"/>
              </a:rPr>
              <a:t>There are </a:t>
            </a:r>
            <a:r>
              <a:rPr lang="en-US" dirty="0">
                <a:solidFill>
                  <a:schemeClr val="dk1"/>
                </a:solidFill>
                <a:latin typeface="Times New Roman"/>
                <a:ea typeface="Times New Roman"/>
                <a:cs typeface="Times New Roman"/>
                <a:sym typeface="Times New Roman"/>
              </a:rPr>
              <a:t>numerous issues with the current system include poor data quality and accuracy, restricted ground penetrating radar availability, a lack of real-time monitoring, expensive installation costs, and difficulty integrating data from multiple sources. </a:t>
            </a:r>
          </a:p>
          <a:p>
            <a:pPr marL="457200" lvl="0" indent="-342900" algn="l" rtl="0">
              <a:lnSpc>
                <a:spcPct val="160000"/>
              </a:lnSpc>
              <a:spcBef>
                <a:spcPts val="0"/>
              </a:spcBef>
              <a:spcAft>
                <a:spcPts val="0"/>
              </a:spcAft>
              <a:buClr>
                <a:schemeClr val="dk1"/>
              </a:buClr>
              <a:buSzPts val="1800"/>
              <a:buFont typeface="Times New Roman"/>
              <a:buChar char="●"/>
            </a:pPr>
            <a:r>
              <a:rPr lang="en-US" dirty="0">
                <a:solidFill>
                  <a:schemeClr val="dk1"/>
                </a:solidFill>
                <a:latin typeface="Times New Roman"/>
                <a:ea typeface="Times New Roman"/>
                <a:cs typeface="Times New Roman"/>
                <a:sym typeface="Times New Roman"/>
              </a:rPr>
              <a:t>We proposed that by adding various sensors and GPR we can get accurate data for lower cost.</a:t>
            </a:r>
            <a:endParaRPr lang="en-GB" dirty="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rmAutofit fontScale="90000"/>
          </a:bodyPr>
          <a:lstStyle/>
          <a:p>
            <a:pPr marL="0" lvl="0" indent="0" algn="ctr" rtl="0">
              <a:lnSpc>
                <a:spcPct val="115000"/>
              </a:lnSpc>
              <a:spcBef>
                <a:spcPts val="0"/>
              </a:spcBef>
              <a:spcAft>
                <a:spcPts val="1200"/>
              </a:spcAft>
              <a:buNone/>
            </a:pPr>
            <a:r>
              <a:rPr lang="en-GB" sz="2782" b="1" dirty="0">
                <a:solidFill>
                  <a:srgbClr val="3C78D8"/>
                </a:solidFill>
                <a:latin typeface="Times New Roman"/>
                <a:ea typeface="Times New Roman"/>
                <a:cs typeface="Times New Roman"/>
                <a:sym typeface="Times New Roman"/>
              </a:rPr>
              <a:t>Methodology</a:t>
            </a:r>
            <a:endParaRPr sz="3466" dirty="0">
              <a:solidFill>
                <a:srgbClr val="3C78D8"/>
              </a:solidFill>
            </a:endParaRPr>
          </a:p>
        </p:txBody>
      </p:sp>
      <p:sp>
        <p:nvSpPr>
          <p:cNvPr id="101" name="Google Shape;101;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38150">
              <a:lnSpc>
                <a:spcPct val="150000"/>
              </a:lnSpc>
              <a:buClr>
                <a:srgbClr val="000000"/>
              </a:buClr>
              <a:buSzPts val="2100"/>
            </a:pPr>
            <a:r>
              <a:rPr lang="en-GB" sz="2000" dirty="0">
                <a:solidFill>
                  <a:srgbClr val="000000"/>
                </a:solidFill>
                <a:latin typeface="Times New Roman"/>
                <a:ea typeface="Times New Roman"/>
                <a:cs typeface="Times New Roman"/>
                <a:sym typeface="Times New Roman"/>
              </a:rPr>
              <a:t>In this paper we proposed a system to detect the possibilities of a landslide by tracking the environment using </a:t>
            </a:r>
          </a:p>
          <a:p>
            <a:pPr marL="609600" indent="-514350">
              <a:lnSpc>
                <a:spcPct val="150000"/>
              </a:lnSpc>
              <a:buClr>
                <a:srgbClr val="000000"/>
              </a:buClr>
              <a:buSzPts val="2100"/>
              <a:buFont typeface="+mj-lt"/>
              <a:buAutoNum type="romanLcPeriod"/>
            </a:pPr>
            <a:r>
              <a:rPr lang="en-GB" sz="2000" dirty="0">
                <a:solidFill>
                  <a:srgbClr val="000000"/>
                </a:solidFill>
                <a:latin typeface="Times New Roman"/>
                <a:ea typeface="Times New Roman"/>
                <a:cs typeface="Times New Roman"/>
                <a:sym typeface="Times New Roman"/>
              </a:rPr>
              <a:t> Soil Sensor</a:t>
            </a:r>
          </a:p>
          <a:p>
            <a:pPr marL="609600" indent="-514350">
              <a:lnSpc>
                <a:spcPct val="150000"/>
              </a:lnSpc>
              <a:buClr>
                <a:srgbClr val="000000"/>
              </a:buClr>
              <a:buSzPts val="2100"/>
              <a:buFont typeface="+mj-lt"/>
              <a:buAutoNum type="romanLcPeriod"/>
            </a:pPr>
            <a:r>
              <a:rPr lang="en-GB" sz="2000" dirty="0">
                <a:solidFill>
                  <a:srgbClr val="000000"/>
                </a:solidFill>
                <a:latin typeface="Times New Roman"/>
                <a:ea typeface="Times New Roman"/>
                <a:cs typeface="Times New Roman"/>
                <a:sym typeface="Times New Roman"/>
              </a:rPr>
              <a:t>Humidity Sensor</a:t>
            </a:r>
          </a:p>
          <a:p>
            <a:pPr marL="609600" indent="-514350">
              <a:lnSpc>
                <a:spcPct val="150000"/>
              </a:lnSpc>
              <a:buClr>
                <a:srgbClr val="000000"/>
              </a:buClr>
              <a:buSzPts val="2100"/>
              <a:buFont typeface="+mj-lt"/>
              <a:buAutoNum type="romanLcPeriod"/>
            </a:pPr>
            <a:r>
              <a:rPr lang="en-GB" sz="2000" dirty="0">
                <a:solidFill>
                  <a:srgbClr val="000000"/>
                </a:solidFill>
                <a:latin typeface="Times New Roman"/>
                <a:ea typeface="Times New Roman"/>
                <a:cs typeface="Times New Roman"/>
                <a:sym typeface="Times New Roman"/>
              </a:rPr>
              <a:t> Vibration Sensor</a:t>
            </a:r>
          </a:p>
          <a:p>
            <a:pPr marL="609600" indent="-514350">
              <a:lnSpc>
                <a:spcPct val="150000"/>
              </a:lnSpc>
              <a:buClr>
                <a:srgbClr val="000000"/>
              </a:buClr>
              <a:buSzPts val="2100"/>
              <a:buFont typeface="+mj-lt"/>
              <a:buAutoNum type="romanLcPeriod"/>
            </a:pPr>
            <a:r>
              <a:rPr lang="en-GB" sz="2000" dirty="0">
                <a:solidFill>
                  <a:srgbClr val="000000"/>
                </a:solidFill>
                <a:latin typeface="Times New Roman"/>
                <a:ea typeface="Times New Roman"/>
                <a:cs typeface="Times New Roman"/>
                <a:sym typeface="Times New Roman"/>
              </a:rPr>
              <a:t>GSM Sensor</a:t>
            </a:r>
          </a:p>
          <a:p>
            <a:pPr marL="609600" indent="-514350">
              <a:lnSpc>
                <a:spcPct val="150000"/>
              </a:lnSpc>
              <a:buClr>
                <a:srgbClr val="000000"/>
              </a:buClr>
              <a:buSzPts val="2100"/>
              <a:buFont typeface="+mj-lt"/>
              <a:buAutoNum type="romanLcPeriod"/>
            </a:pPr>
            <a:r>
              <a:rPr lang="en-GB" sz="2000" dirty="0">
                <a:solidFill>
                  <a:srgbClr val="000000"/>
                </a:solidFill>
                <a:latin typeface="Times New Roman"/>
                <a:ea typeface="Times New Roman"/>
                <a:cs typeface="Times New Roman"/>
                <a:sym typeface="Times New Roman"/>
              </a:rPr>
              <a:t>Rainfall Sensor</a:t>
            </a:r>
          </a:p>
          <a:p>
            <a:pPr marL="95250" indent="0">
              <a:lnSpc>
                <a:spcPct val="150000"/>
              </a:lnSpc>
              <a:buClr>
                <a:srgbClr val="000000"/>
              </a:buClr>
              <a:buSzPts val="2100"/>
              <a:buNone/>
            </a:pPr>
            <a:endParaRPr lang="en-GB" sz="20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ECB5C-A040-4576-B2BC-33F15447E9E6}"/>
              </a:ext>
            </a:extLst>
          </p:cNvPr>
          <p:cNvSpPr>
            <a:spLocks noGrp="1"/>
          </p:cNvSpPr>
          <p:nvPr>
            <p:ph type="title"/>
          </p:nvPr>
        </p:nvSpPr>
        <p:spPr/>
        <p:txBody>
          <a:bodyPr anchor="ctr">
            <a:normAutofit fontScale="90000"/>
          </a:bodyPr>
          <a:lstStyle/>
          <a:p>
            <a:pPr algn="ctr"/>
            <a:r>
              <a:rPr lang="en-GB" b="1" dirty="0">
                <a:solidFill>
                  <a:srgbClr val="0070C0"/>
                </a:solidFill>
                <a:latin typeface="Times New Roman" panose="02020603050405020304" pitchFamily="18" charset="0"/>
                <a:cs typeface="Times New Roman" panose="02020603050405020304" pitchFamily="18" charset="0"/>
              </a:rPr>
              <a:t>Block Diagram</a:t>
            </a: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C392AE5-2798-9B2B-33D2-ED29F71E796E}"/>
              </a:ext>
            </a:extLst>
          </p:cNvPr>
          <p:cNvPicPr>
            <a:picLocks noChangeAspect="1"/>
          </p:cNvPicPr>
          <p:nvPr/>
        </p:nvPicPr>
        <p:blipFill>
          <a:blip r:embed="rId2"/>
          <a:stretch>
            <a:fillRect/>
          </a:stretch>
        </p:blipFill>
        <p:spPr>
          <a:xfrm>
            <a:off x="2126165" y="1042073"/>
            <a:ext cx="4681165" cy="3656402"/>
          </a:xfrm>
          <a:prstGeom prst="rect">
            <a:avLst/>
          </a:prstGeom>
        </p:spPr>
      </p:pic>
    </p:spTree>
    <p:extLst>
      <p:ext uri="{BB962C8B-B14F-4D97-AF65-F5344CB8AC3E}">
        <p14:creationId xmlns:p14="http://schemas.microsoft.com/office/powerpoint/2010/main" val="1107718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6E15A-EBB1-D24F-11AE-FA34CB26006D}"/>
              </a:ext>
            </a:extLst>
          </p:cNvPr>
          <p:cNvSpPr>
            <a:spLocks noGrp="1"/>
          </p:cNvSpPr>
          <p:nvPr>
            <p:ph type="title"/>
          </p:nvPr>
        </p:nvSpPr>
        <p:spPr/>
        <p:txBody>
          <a:bodyPr>
            <a:normAutofit fontScale="90000"/>
          </a:bodyPr>
          <a:lstStyle/>
          <a:p>
            <a:pPr algn="ctr"/>
            <a:r>
              <a:rPr lang="en-IN" dirty="0">
                <a:solidFill>
                  <a:schemeClr val="accent1"/>
                </a:solidFill>
                <a:latin typeface="Times New Roman" panose="02020603050405020304" pitchFamily="18" charset="0"/>
                <a:cs typeface="Times New Roman" panose="02020603050405020304" pitchFamily="18" charset="0"/>
              </a:rPr>
              <a:t>PROPOSED SYSTEM</a:t>
            </a:r>
          </a:p>
        </p:txBody>
      </p:sp>
      <p:sp>
        <p:nvSpPr>
          <p:cNvPr id="3" name="Text Placeholder 2">
            <a:extLst>
              <a:ext uri="{FF2B5EF4-FFF2-40B4-BE49-F238E27FC236}">
                <a16:creationId xmlns:a16="http://schemas.microsoft.com/office/drawing/2014/main" id="{BACE86A0-A1D9-EE4F-CFF7-FD9D1B27F857}"/>
              </a:ext>
            </a:extLst>
          </p:cNvPr>
          <p:cNvSpPr>
            <a:spLocks noGrp="1"/>
          </p:cNvSpPr>
          <p:nvPr>
            <p:ph type="body" idx="1"/>
          </p:nvPr>
        </p:nvSpPr>
        <p:spPr/>
        <p:txBody>
          <a:bodyPr>
            <a:normAutofit fontScale="92500" lnSpcReduction="10000"/>
          </a:bodyPr>
          <a:lstStyle/>
          <a:p>
            <a:r>
              <a:rPr lang="en-US" dirty="0">
                <a:solidFill>
                  <a:schemeClr val="tx1"/>
                </a:solidFill>
                <a:latin typeface="Times New Roman" panose="02020603050405020304" pitchFamily="18" charset="0"/>
                <a:cs typeface="Times New Roman" panose="02020603050405020304" pitchFamily="18" charset="0"/>
              </a:rPr>
              <a:t>In this proposed system for landslide </a:t>
            </a:r>
            <a:r>
              <a:rPr lang="en-US" dirty="0" err="1">
                <a:solidFill>
                  <a:schemeClr val="tx1"/>
                </a:solidFill>
                <a:latin typeface="Times New Roman" panose="02020603050405020304" pitchFamily="18" charset="0"/>
                <a:cs typeface="Times New Roman" panose="02020603050405020304" pitchFamily="18" charset="0"/>
              </a:rPr>
              <a:t>detection,we</a:t>
            </a:r>
            <a:r>
              <a:rPr lang="en-US" dirty="0">
                <a:solidFill>
                  <a:schemeClr val="tx1"/>
                </a:solidFill>
                <a:latin typeface="Times New Roman" panose="02020603050405020304" pitchFamily="18" charset="0"/>
                <a:cs typeface="Times New Roman" panose="02020603050405020304" pitchFamily="18" charset="0"/>
              </a:rPr>
              <a:t> are using multiple sensors to gather various field data for multiple analysis and to reduce the impacts of the landslide.</a:t>
            </a:r>
          </a:p>
          <a:p>
            <a:r>
              <a:rPr lang="en-US" dirty="0">
                <a:solidFill>
                  <a:schemeClr val="tx1"/>
                </a:solidFill>
                <a:latin typeface="Times New Roman" panose="02020603050405020304" pitchFamily="18" charset="0"/>
                <a:cs typeface="Times New Roman" panose="02020603050405020304" pitchFamily="18" charset="0"/>
              </a:rPr>
              <a:t>Arduino board is used in the development of the system along with the vibration sensors, soil moisture sensors and </a:t>
            </a:r>
            <a:r>
              <a:rPr lang="en-US" dirty="0" err="1">
                <a:solidFill>
                  <a:schemeClr val="tx1"/>
                </a:solidFill>
                <a:latin typeface="Times New Roman" panose="02020603050405020304" pitchFamily="18" charset="0"/>
                <a:cs typeface="Times New Roman" panose="02020603050405020304" pitchFamily="18" charset="0"/>
              </a:rPr>
              <a:t>WiFi</a:t>
            </a:r>
            <a:r>
              <a:rPr lang="en-US" dirty="0">
                <a:solidFill>
                  <a:schemeClr val="tx1"/>
                </a:solidFill>
                <a:latin typeface="Times New Roman" panose="02020603050405020304" pitchFamily="18" charset="0"/>
                <a:cs typeface="Times New Roman" panose="02020603050405020304" pitchFamily="18" charset="0"/>
              </a:rPr>
              <a:t> module.</a:t>
            </a:r>
          </a:p>
          <a:p>
            <a:r>
              <a:rPr lang="en-US" dirty="0">
                <a:solidFill>
                  <a:schemeClr val="tx1"/>
                </a:solidFill>
                <a:latin typeface="Times New Roman" panose="02020603050405020304" pitchFamily="18" charset="0"/>
                <a:cs typeface="Times New Roman" panose="02020603050405020304" pitchFamily="18" charset="0"/>
              </a:rPr>
              <a:t>The system we are using have a </a:t>
            </a:r>
            <a:r>
              <a:rPr lang="en-US" dirty="0" err="1">
                <a:solidFill>
                  <a:schemeClr val="tx1"/>
                </a:solidFill>
                <a:latin typeface="Times New Roman" panose="02020603050405020304" pitchFamily="18" charset="0"/>
                <a:cs typeface="Times New Roman" panose="02020603050405020304" pitchFamily="18" charset="0"/>
              </a:rPr>
              <a:t>WiFi</a:t>
            </a:r>
            <a:r>
              <a:rPr lang="en-US" dirty="0">
                <a:solidFill>
                  <a:schemeClr val="tx1"/>
                </a:solidFill>
                <a:latin typeface="Times New Roman" panose="02020603050405020304" pitchFamily="18" charset="0"/>
                <a:cs typeface="Times New Roman" panose="02020603050405020304" pitchFamily="18" charset="0"/>
              </a:rPr>
              <a:t> module to quick data transfer.</a:t>
            </a:r>
          </a:p>
          <a:p>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WiFi</a:t>
            </a:r>
            <a:r>
              <a:rPr lang="en-US" dirty="0">
                <a:solidFill>
                  <a:schemeClr val="tx1"/>
                </a:solidFill>
                <a:latin typeface="Times New Roman" panose="02020603050405020304" pitchFamily="18" charset="0"/>
                <a:cs typeface="Times New Roman" panose="02020603050405020304" pitchFamily="18" charset="0"/>
              </a:rPr>
              <a:t> enables the sensors and board connect to the Internet Service Provider (ISP).</a:t>
            </a:r>
          </a:p>
          <a:p>
            <a:r>
              <a:rPr lang="en-US" dirty="0">
                <a:solidFill>
                  <a:schemeClr val="tx1"/>
                </a:solidFill>
                <a:latin typeface="Times New Roman" panose="02020603050405020304" pitchFamily="18" charset="0"/>
                <a:cs typeface="Times New Roman" panose="02020603050405020304" pitchFamily="18" charset="0"/>
              </a:rPr>
              <a:t> All the sensors collect the real time data and with the help of Arduino development board the data is send to the cloud storage </a:t>
            </a:r>
            <a:r>
              <a:rPr lang="en-US" dirty="0" err="1">
                <a:solidFill>
                  <a:schemeClr val="tx1"/>
                </a:solidFill>
                <a:latin typeface="Times New Roman" panose="02020603050405020304" pitchFamily="18" charset="0"/>
                <a:cs typeface="Times New Roman" panose="02020603050405020304" pitchFamily="18" charset="0"/>
              </a:rPr>
              <a:t>ThingSpeak</a:t>
            </a:r>
            <a:r>
              <a:rPr lang="en-US"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ThingSpeak</a:t>
            </a:r>
            <a:r>
              <a:rPr lang="en-US" dirty="0">
                <a:solidFill>
                  <a:schemeClr val="tx1"/>
                </a:solidFill>
                <a:latin typeface="Times New Roman" panose="02020603050405020304" pitchFamily="18" charset="0"/>
                <a:cs typeface="Times New Roman" panose="02020603050405020304" pitchFamily="18" charset="0"/>
              </a:rPr>
              <a:t> by </a:t>
            </a:r>
            <a:r>
              <a:rPr lang="en-US" dirty="0" err="1">
                <a:solidFill>
                  <a:schemeClr val="tx1"/>
                </a:solidFill>
                <a:latin typeface="Times New Roman" panose="02020603050405020304" pitchFamily="18" charset="0"/>
                <a:cs typeface="Times New Roman" panose="02020603050405020304" pitchFamily="18" charset="0"/>
              </a:rPr>
              <a:t>Mathworks</a:t>
            </a:r>
            <a:r>
              <a:rPr lang="en-US" dirty="0">
                <a:solidFill>
                  <a:schemeClr val="tx1"/>
                </a:solidFill>
                <a:latin typeface="Times New Roman" panose="02020603050405020304" pitchFamily="18" charset="0"/>
                <a:cs typeface="Times New Roman" panose="02020603050405020304" pitchFamily="18" charset="0"/>
              </a:rPr>
              <a:t> uses MATLAB as a powerful tool to analyze the data and present .</a:t>
            </a:r>
          </a:p>
          <a:p>
            <a:r>
              <a:rPr lang="en-US" dirty="0">
                <a:solidFill>
                  <a:schemeClr val="tx1"/>
                </a:solidFill>
                <a:latin typeface="Times New Roman" panose="02020603050405020304" pitchFamily="18" charset="0"/>
                <a:cs typeface="Times New Roman" panose="02020603050405020304" pitchFamily="18" charset="0"/>
              </a:rPr>
              <a:t>It in the form of graph that can be easily readable. </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5735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D1249-FBD0-395C-ECEC-B3DADFD7C81D}"/>
              </a:ext>
            </a:extLst>
          </p:cNvPr>
          <p:cNvSpPr>
            <a:spLocks noGrp="1"/>
          </p:cNvSpPr>
          <p:nvPr>
            <p:ph type="title"/>
          </p:nvPr>
        </p:nvSpPr>
        <p:spPr/>
        <p:txBody>
          <a:bodyPr>
            <a:normAutofit fontScale="90000"/>
          </a:bodyPr>
          <a:lstStyle/>
          <a:p>
            <a:pPr algn="ctr"/>
            <a:r>
              <a:rPr lang="en-IN" dirty="0">
                <a:solidFill>
                  <a:schemeClr val="accent1"/>
                </a:solidFill>
                <a:latin typeface="Times New Roman" panose="02020603050405020304" pitchFamily="18" charset="0"/>
                <a:cs typeface="Times New Roman" panose="02020603050405020304" pitchFamily="18" charset="0"/>
              </a:rPr>
              <a:t>MODULAR DESCRIPTION</a:t>
            </a:r>
          </a:p>
        </p:txBody>
      </p:sp>
      <p:sp>
        <p:nvSpPr>
          <p:cNvPr id="3" name="Text Placeholder 2">
            <a:extLst>
              <a:ext uri="{FF2B5EF4-FFF2-40B4-BE49-F238E27FC236}">
                <a16:creationId xmlns:a16="http://schemas.microsoft.com/office/drawing/2014/main" id="{EE6F3309-5CD0-7A3D-474D-A3ADF45E8B43}"/>
              </a:ext>
            </a:extLst>
          </p:cNvPr>
          <p:cNvSpPr>
            <a:spLocks noGrp="1"/>
          </p:cNvSpPr>
          <p:nvPr>
            <p:ph type="body" idx="1"/>
          </p:nvPr>
        </p:nvSpPr>
        <p:spPr/>
        <p:txBody>
          <a:bodyPr/>
          <a:lstStyle/>
          <a:p>
            <a:r>
              <a:rPr lang="en-IN" dirty="0">
                <a:solidFill>
                  <a:schemeClr val="tx1"/>
                </a:solidFill>
              </a:rPr>
              <a:t>Sensing Module</a:t>
            </a:r>
          </a:p>
          <a:p>
            <a:r>
              <a:rPr lang="en-IN" dirty="0">
                <a:solidFill>
                  <a:schemeClr val="tx1"/>
                </a:solidFill>
              </a:rPr>
              <a:t>Data Processing and Analysis</a:t>
            </a:r>
          </a:p>
          <a:p>
            <a:r>
              <a:rPr lang="en-IN" dirty="0">
                <a:solidFill>
                  <a:schemeClr val="tx1"/>
                </a:solidFill>
              </a:rPr>
              <a:t>Monitoring and Surveillance</a:t>
            </a:r>
          </a:p>
          <a:p>
            <a:r>
              <a:rPr lang="en-IN" i="0" dirty="0">
                <a:solidFill>
                  <a:schemeClr val="tx1"/>
                </a:solidFill>
                <a:effectLst/>
                <a:latin typeface="Söhne"/>
              </a:rPr>
              <a:t>Web Application</a:t>
            </a:r>
          </a:p>
          <a:p>
            <a:r>
              <a:rPr lang="en-IN" i="0" dirty="0">
                <a:solidFill>
                  <a:schemeClr val="tx1"/>
                </a:solidFill>
                <a:effectLst/>
                <a:latin typeface="Söhne"/>
              </a:rPr>
              <a:t>Message Alert System</a:t>
            </a:r>
          </a:p>
          <a:p>
            <a:r>
              <a:rPr lang="en-IN" dirty="0">
                <a:solidFill>
                  <a:schemeClr val="tx1"/>
                </a:solidFill>
                <a:latin typeface="Söhne"/>
              </a:rPr>
              <a:t>Buzzer Alert System</a:t>
            </a:r>
            <a:endParaRPr lang="en-IN" i="0" dirty="0">
              <a:solidFill>
                <a:schemeClr val="tx1"/>
              </a:solidFill>
              <a:effectLst/>
              <a:latin typeface="Söhne"/>
            </a:endParaRPr>
          </a:p>
          <a:p>
            <a:endParaRPr lang="en-IN" i="0" dirty="0">
              <a:solidFill>
                <a:schemeClr val="tx1"/>
              </a:solidFill>
              <a:effectLst/>
              <a:latin typeface="Söhne"/>
            </a:endParaRPr>
          </a:p>
          <a:p>
            <a:pPr marL="114300" indent="0">
              <a:buNone/>
            </a:pPr>
            <a:endParaRPr lang="en-IN" dirty="0">
              <a:solidFill>
                <a:schemeClr val="tx1"/>
              </a:solidFill>
            </a:endParaRPr>
          </a:p>
          <a:p>
            <a:pPr marL="114300" indent="0">
              <a:buNone/>
            </a:pPr>
            <a:endParaRPr lang="en-IN" i="0" dirty="0">
              <a:solidFill>
                <a:schemeClr val="bg2"/>
              </a:solidFill>
              <a:effectLst/>
              <a:latin typeface="Söhne"/>
            </a:endParaRPr>
          </a:p>
        </p:txBody>
      </p:sp>
    </p:spTree>
    <p:extLst>
      <p:ext uri="{BB962C8B-B14F-4D97-AF65-F5344CB8AC3E}">
        <p14:creationId xmlns:p14="http://schemas.microsoft.com/office/powerpoint/2010/main" val="703195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1F78F-EE0D-A843-AEA4-6332086B58B0}"/>
              </a:ext>
            </a:extLst>
          </p:cNvPr>
          <p:cNvSpPr>
            <a:spLocks noGrp="1"/>
          </p:cNvSpPr>
          <p:nvPr>
            <p:ph type="title"/>
          </p:nvPr>
        </p:nvSpPr>
        <p:spPr/>
        <p:txBody>
          <a:bodyPr>
            <a:normAutofit fontScale="90000"/>
          </a:bodyPr>
          <a:lstStyle/>
          <a:p>
            <a:pPr algn="ctr"/>
            <a:r>
              <a:rPr lang="en-IN" dirty="0">
                <a:solidFill>
                  <a:schemeClr val="accent1"/>
                </a:solidFill>
                <a:latin typeface="Times New Roman" panose="02020603050405020304" pitchFamily="18" charset="0"/>
                <a:cs typeface="Times New Roman" panose="02020603050405020304" pitchFamily="18" charset="0"/>
              </a:rPr>
              <a:t>DETAILED DESCRIPTION</a:t>
            </a:r>
          </a:p>
        </p:txBody>
      </p:sp>
      <p:sp>
        <p:nvSpPr>
          <p:cNvPr id="3" name="Text Placeholder 2">
            <a:extLst>
              <a:ext uri="{FF2B5EF4-FFF2-40B4-BE49-F238E27FC236}">
                <a16:creationId xmlns:a16="http://schemas.microsoft.com/office/drawing/2014/main" id="{BFED4815-4DCC-4A85-374B-51F3895F14C2}"/>
              </a:ext>
            </a:extLst>
          </p:cNvPr>
          <p:cNvSpPr>
            <a:spLocks noGrp="1"/>
          </p:cNvSpPr>
          <p:nvPr>
            <p:ph type="body"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Sensing Module:</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a:t>
            </a:r>
            <a:r>
              <a:rPr lang="en-US" b="0" i="0" dirty="0">
                <a:solidFill>
                  <a:schemeClr val="tx1"/>
                </a:solidFill>
                <a:effectLst/>
                <a:latin typeface="Times New Roman" panose="02020603050405020304" pitchFamily="18" charset="0"/>
                <a:cs typeface="Times New Roman" panose="02020603050405020304" pitchFamily="18" charset="0"/>
              </a:rPr>
              <a:t>Gather data from various sensors like inclinometers, accelerometers, rainfall gauges, and seismometers deployed in landslide-prone areas and the data are used to solve the impact on the field.</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Data Processing and Analysis:</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Process data from sensors and remote sources to identify precursors and patterns indicative of landslide risks.</a:t>
            </a:r>
            <a:r>
              <a:rPr lang="en-US" b="0" i="0" dirty="0">
                <a:solidFill>
                  <a:schemeClr val="tx1"/>
                </a:solidFill>
                <a:effectLst/>
                <a:latin typeface="Times New Roman" panose="02020603050405020304" pitchFamily="18" charset="0"/>
                <a:cs typeface="Times New Roman" panose="02020603050405020304" pitchFamily="18" charset="0"/>
              </a:rPr>
              <a:t> Integrates spatial data to create risk maps and assess the potential impact areas.</a:t>
            </a:r>
          </a:p>
          <a:p>
            <a:pPr marL="114300" indent="0">
              <a:buNone/>
            </a:pPr>
            <a:endParaRPr lang="en-IN" dirty="0">
              <a:solidFill>
                <a:schemeClr val="bg2"/>
              </a:solidFill>
              <a:latin typeface="+mn-lt"/>
            </a:endParaRPr>
          </a:p>
        </p:txBody>
      </p:sp>
    </p:spTree>
    <p:extLst>
      <p:ext uri="{BB962C8B-B14F-4D97-AF65-F5344CB8AC3E}">
        <p14:creationId xmlns:p14="http://schemas.microsoft.com/office/powerpoint/2010/main" val="3161051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E0F0FC-1FF5-6EB2-C8B9-21C12D25B2B3}"/>
              </a:ext>
            </a:extLst>
          </p:cNvPr>
          <p:cNvSpPr>
            <a:spLocks noGrp="1"/>
          </p:cNvSpPr>
          <p:nvPr>
            <p:ph type="body" idx="1"/>
          </p:nvPr>
        </p:nvSpPr>
        <p:spPr>
          <a:xfrm>
            <a:off x="311700" y="662827"/>
            <a:ext cx="8720788" cy="4080157"/>
          </a:xfrm>
        </p:spPr>
        <p:txBody>
          <a:bodyPr>
            <a:noAutofit/>
          </a:bodyPr>
          <a:lstStyle/>
          <a:p>
            <a:r>
              <a:rPr lang="en-IN" dirty="0">
                <a:solidFill>
                  <a:schemeClr val="tx1"/>
                </a:solidFill>
                <a:latin typeface="Times New Roman" panose="02020603050405020304" pitchFamily="18" charset="0"/>
                <a:cs typeface="Times New Roman" panose="02020603050405020304" pitchFamily="18" charset="0"/>
              </a:rPr>
              <a:t>Monitoring and Surveillance</a:t>
            </a:r>
          </a:p>
          <a:p>
            <a:pPr marL="114300" indent="0">
              <a:buNone/>
            </a:pPr>
            <a:r>
              <a:rPr lang="en-US" dirty="0">
                <a:solidFill>
                  <a:schemeClr val="tx1"/>
                </a:solidFill>
                <a:latin typeface="Times New Roman" panose="02020603050405020304" pitchFamily="18" charset="0"/>
                <a:cs typeface="Times New Roman" panose="02020603050405020304" pitchFamily="18" charset="0"/>
              </a:rPr>
              <a:t>                   Ensures real-time surveillance using a network of sensors and remote monitoring systems. Predicts potential landslide occurrences based on ongoing environmental changes and historical data.</a:t>
            </a:r>
          </a:p>
          <a:p>
            <a:pPr marL="114300" indent="0">
              <a:buNone/>
            </a:pPr>
            <a:endParaRPr lang="en-US" b="0" i="0" dirty="0">
              <a:solidFill>
                <a:schemeClr val="tx1"/>
              </a:solidFill>
              <a:effectLst/>
              <a:latin typeface="Times New Roman" panose="02020603050405020304" pitchFamily="18" charset="0"/>
              <a:cs typeface="Times New Roman" panose="02020603050405020304" pitchFamily="18" charset="0"/>
            </a:endParaRPr>
          </a:p>
          <a:p>
            <a:pPr marL="114300" indent="0">
              <a:buNone/>
            </a:pPr>
            <a:endParaRPr lang="en-US" b="0" i="0" dirty="0">
              <a:solidFill>
                <a:schemeClr val="tx1"/>
              </a:solidFill>
              <a:effectLst/>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Web Application</a:t>
            </a:r>
          </a:p>
          <a:p>
            <a:pPr marL="114300" indent="0">
              <a:buNone/>
            </a:pPr>
            <a:r>
              <a:rPr lang="en-US" dirty="0">
                <a:solidFill>
                  <a:schemeClr val="tx1"/>
                </a:solidFill>
                <a:latin typeface="Times New Roman" panose="02020603050405020304" pitchFamily="18" charset="0"/>
                <a:cs typeface="Times New Roman" panose="02020603050405020304" pitchFamily="18" charset="0"/>
              </a:rPr>
              <a:t>                in this system we are using web application for monitoring and surveillance and to use the gathered data efficiently.</a:t>
            </a:r>
            <a:endParaRPr lang="en-IN" i="0" dirty="0">
              <a:solidFill>
                <a:schemeClr val="tx1"/>
              </a:solidFill>
              <a:effectLst/>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3049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59E60-457D-B45F-7C5F-1A0887388B7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5A195C7-0437-0D57-E122-2143D024B27C}"/>
              </a:ext>
            </a:extLst>
          </p:cNvPr>
          <p:cNvSpPr>
            <a:spLocks noGrp="1"/>
          </p:cNvSpPr>
          <p:nvPr>
            <p:ph type="body" idx="1"/>
          </p:nvPr>
        </p:nvSpPr>
        <p:spPr/>
        <p:txBody>
          <a:bodyPr>
            <a:normAutofit/>
          </a:bodyPr>
          <a:lstStyle/>
          <a:p>
            <a:r>
              <a:rPr lang="en-IN" i="0" dirty="0">
                <a:solidFill>
                  <a:schemeClr val="tx1"/>
                </a:solidFill>
                <a:effectLst/>
                <a:latin typeface="Söhne"/>
              </a:rPr>
              <a:t>Message Alert System</a:t>
            </a:r>
          </a:p>
          <a:p>
            <a:pPr marL="114300" indent="0">
              <a:buNone/>
            </a:pPr>
            <a:r>
              <a:rPr lang="en-US" dirty="0"/>
              <a:t>                    A message alert system is designed to send notifications  to individuals  to inform them of various situations, or updates. These systems can be implemented in various contexts, such as emergency notifications.</a:t>
            </a:r>
          </a:p>
          <a:p>
            <a:pPr marL="114300" indent="0">
              <a:buNone/>
            </a:pPr>
            <a:endParaRPr lang="en-US" dirty="0"/>
          </a:p>
          <a:p>
            <a:r>
              <a:rPr lang="en-IN" dirty="0">
                <a:solidFill>
                  <a:schemeClr val="tx1"/>
                </a:solidFill>
                <a:latin typeface="Söhne"/>
              </a:rPr>
              <a:t>Buzzer Alert System</a:t>
            </a:r>
          </a:p>
          <a:p>
            <a:pPr marL="114300" indent="0">
              <a:buNone/>
            </a:pPr>
            <a:r>
              <a:rPr lang="en-IN" i="0" dirty="0">
                <a:solidFill>
                  <a:schemeClr val="tx1"/>
                </a:solidFill>
                <a:effectLst/>
                <a:latin typeface="Söhne"/>
              </a:rPr>
              <a:t>                  </a:t>
            </a:r>
            <a:r>
              <a:rPr lang="en-IN" dirty="0">
                <a:solidFill>
                  <a:schemeClr val="tx1"/>
                </a:solidFill>
                <a:latin typeface="Söhne"/>
              </a:rPr>
              <a:t> </a:t>
            </a:r>
            <a:r>
              <a:rPr lang="en-US" dirty="0">
                <a:solidFill>
                  <a:schemeClr val="tx1"/>
                </a:solidFill>
                <a:latin typeface="Söhne"/>
              </a:rPr>
              <a:t>A buzzer alert system is a mechanism designed to emit an audible alarm or buzzing sound to signal an event, warning, or reminder. These systems are used as </a:t>
            </a:r>
            <a:r>
              <a:rPr lang="en-US" dirty="0" err="1">
                <a:solidFill>
                  <a:schemeClr val="tx1"/>
                </a:solidFill>
                <a:latin typeface="Söhne"/>
              </a:rPr>
              <a:t>alaram</a:t>
            </a:r>
            <a:r>
              <a:rPr lang="en-US" dirty="0">
                <a:solidFill>
                  <a:schemeClr val="tx1"/>
                </a:solidFill>
                <a:latin typeface="Söhne"/>
              </a:rPr>
              <a:t> notification to intimate the peoples around the location.</a:t>
            </a:r>
            <a:endParaRPr lang="en-IN" i="0" dirty="0">
              <a:solidFill>
                <a:schemeClr val="tx1"/>
              </a:solidFill>
              <a:effectLst/>
              <a:latin typeface="Söhne"/>
            </a:endParaRPr>
          </a:p>
          <a:p>
            <a:pPr marL="114300" indent="0">
              <a:buNone/>
            </a:pPr>
            <a:endParaRPr lang="en-IN" dirty="0"/>
          </a:p>
        </p:txBody>
      </p:sp>
    </p:spTree>
    <p:extLst>
      <p:ext uri="{BB962C8B-B14F-4D97-AF65-F5344CB8AC3E}">
        <p14:creationId xmlns:p14="http://schemas.microsoft.com/office/powerpoint/2010/main" val="2052426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D1704-37C4-8CF3-0639-1C06FB12C832}"/>
              </a:ext>
            </a:extLst>
          </p:cNvPr>
          <p:cNvSpPr>
            <a:spLocks noGrp="1"/>
          </p:cNvSpPr>
          <p:nvPr>
            <p:ph type="title"/>
          </p:nvPr>
        </p:nvSpPr>
        <p:spPr/>
        <p:txBody>
          <a:bodyPr>
            <a:normAutofit fontScale="90000"/>
          </a:bodyPr>
          <a:lstStyle/>
          <a:p>
            <a:pPr algn="ctr"/>
            <a:r>
              <a:rPr lang="en-IN" dirty="0">
                <a:solidFill>
                  <a:schemeClr val="accent1"/>
                </a:solidFill>
                <a:latin typeface="Times New Roman" panose="02020603050405020304" pitchFamily="18" charset="0"/>
                <a:cs typeface="Times New Roman" panose="02020603050405020304" pitchFamily="18" charset="0"/>
              </a:rPr>
              <a:t>DETAILS ABOUT THE PLATFORM,DATASET AND TOOLS</a:t>
            </a:r>
          </a:p>
        </p:txBody>
      </p:sp>
      <p:sp>
        <p:nvSpPr>
          <p:cNvPr id="3" name="Text Placeholder 2">
            <a:extLst>
              <a:ext uri="{FF2B5EF4-FFF2-40B4-BE49-F238E27FC236}">
                <a16:creationId xmlns:a16="http://schemas.microsoft.com/office/drawing/2014/main" id="{EE3AF8C2-9006-E41E-BCC2-5B099FB5F5D7}"/>
              </a:ext>
            </a:extLst>
          </p:cNvPr>
          <p:cNvSpPr>
            <a:spLocks noGrp="1"/>
          </p:cNvSpPr>
          <p:nvPr>
            <p:ph type="body" idx="1"/>
          </p:nvPr>
        </p:nvSpPr>
        <p:spPr/>
        <p:txBody>
          <a:bodyPr>
            <a:normAutofit lnSpcReduction="10000"/>
          </a:bodyPr>
          <a:lstStyle/>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b="1" dirty="0">
                <a:solidFill>
                  <a:schemeClr val="tx1"/>
                </a:solidFill>
                <a:latin typeface="Times New Roman" panose="02020603050405020304" pitchFamily="18" charset="0"/>
                <a:cs typeface="Times New Roman" panose="02020603050405020304" pitchFamily="18" charset="0"/>
              </a:rPr>
              <a:t>PLATFORMS</a:t>
            </a:r>
          </a:p>
          <a:p>
            <a:r>
              <a:rPr lang="en-IN" dirty="0">
                <a:solidFill>
                  <a:schemeClr val="tx1"/>
                </a:solidFill>
                <a:latin typeface="Times New Roman" panose="02020603050405020304" pitchFamily="18" charset="0"/>
                <a:cs typeface="Times New Roman" panose="02020603050405020304" pitchFamily="18" charset="0"/>
              </a:rPr>
              <a:t>Arduino Development Board </a:t>
            </a:r>
          </a:p>
          <a:p>
            <a:r>
              <a:rPr lang="en-IN" dirty="0">
                <a:solidFill>
                  <a:schemeClr val="tx1"/>
                </a:solidFill>
                <a:latin typeface="Times New Roman" panose="02020603050405020304" pitchFamily="18" charset="0"/>
                <a:cs typeface="Times New Roman" panose="02020603050405020304" pitchFamily="18" charset="0"/>
              </a:rPr>
              <a:t>ESP8266 Wi-Fi</a:t>
            </a:r>
          </a:p>
          <a:p>
            <a:r>
              <a:rPr lang="en-IN" i="0" dirty="0">
                <a:solidFill>
                  <a:schemeClr val="tx1"/>
                </a:solidFill>
                <a:effectLst/>
                <a:latin typeface="Times New Roman" panose="02020603050405020304" pitchFamily="18" charset="0"/>
                <a:cs typeface="Times New Roman" panose="02020603050405020304" pitchFamily="18" charset="0"/>
              </a:rPr>
              <a:t>Ground-Based Platforms</a:t>
            </a:r>
          </a:p>
          <a:p>
            <a:pPr marL="114300" indent="0">
              <a:buNone/>
            </a:pPr>
            <a:r>
              <a:rPr lang="en-IN" b="1" dirty="0">
                <a:solidFill>
                  <a:schemeClr val="tx1"/>
                </a:solidFill>
                <a:latin typeface="Times New Roman" panose="02020603050405020304" pitchFamily="18" charset="0"/>
                <a:cs typeface="Times New Roman" panose="02020603050405020304" pitchFamily="18" charset="0"/>
              </a:rPr>
              <a:t>DATASETS</a:t>
            </a:r>
          </a:p>
          <a:p>
            <a:r>
              <a:rPr lang="en-IN" i="0" dirty="0" err="1">
                <a:solidFill>
                  <a:schemeClr val="tx1"/>
                </a:solidFill>
                <a:effectLst/>
                <a:latin typeface="Times New Roman" panose="02020603050405020304" pitchFamily="18" charset="0"/>
                <a:cs typeface="Times New Roman" panose="02020603050405020304" pitchFamily="18" charset="0"/>
              </a:rPr>
              <a:t>Flatfile</a:t>
            </a:r>
            <a:r>
              <a:rPr lang="en-IN" dirty="0" err="1">
                <a:solidFill>
                  <a:schemeClr val="tx1"/>
                </a:solidFill>
                <a:latin typeface="Times New Roman" panose="02020603050405020304" pitchFamily="18" charset="0"/>
                <a:cs typeface="Times New Roman" panose="02020603050405020304" pitchFamily="18" charset="0"/>
              </a:rPr>
              <a:t>.</a:t>
            </a:r>
            <a:r>
              <a:rPr lang="en-IN" i="0" dirty="0" err="1">
                <a:solidFill>
                  <a:schemeClr val="tx1"/>
                </a:solidFill>
                <a:effectLst/>
                <a:latin typeface="Times New Roman" panose="02020603050405020304" pitchFamily="18" charset="0"/>
                <a:cs typeface="Times New Roman" panose="02020603050405020304" pitchFamily="18" charset="0"/>
              </a:rPr>
              <a:t>ino</a:t>
            </a:r>
            <a:endParaRPr lang="en-IN" i="0" dirty="0">
              <a:solidFill>
                <a:schemeClr val="tx1"/>
              </a:solidFill>
              <a:effectLst/>
              <a:latin typeface="Times New Roman" panose="02020603050405020304" pitchFamily="18" charset="0"/>
              <a:cs typeface="Times New Roman" panose="02020603050405020304" pitchFamily="18" charset="0"/>
            </a:endParaRPr>
          </a:p>
          <a:p>
            <a:pPr marL="114300" indent="0">
              <a:buNone/>
            </a:pPr>
            <a:r>
              <a:rPr lang="en-IN" b="1" dirty="0">
                <a:solidFill>
                  <a:schemeClr val="tx1"/>
                </a:solidFill>
                <a:latin typeface="Times New Roman" panose="02020603050405020304" pitchFamily="18" charset="0"/>
                <a:cs typeface="Times New Roman" panose="02020603050405020304" pitchFamily="18" charset="0"/>
              </a:rPr>
              <a:t>TOOLS</a:t>
            </a:r>
          </a:p>
          <a:p>
            <a:r>
              <a:rPr lang="en-IN" i="0" dirty="0">
                <a:solidFill>
                  <a:schemeClr val="tx1"/>
                </a:solidFill>
                <a:effectLst/>
                <a:latin typeface="Times New Roman" panose="02020603050405020304" pitchFamily="18" charset="0"/>
                <a:cs typeface="Times New Roman" panose="02020603050405020304" pitchFamily="18" charset="0"/>
              </a:rPr>
              <a:t>Geographic Information Systems (GIS)</a:t>
            </a:r>
          </a:p>
          <a:p>
            <a:r>
              <a:rPr lang="en-IN" dirty="0" err="1">
                <a:solidFill>
                  <a:schemeClr val="tx1"/>
                </a:solidFill>
                <a:latin typeface="Times New Roman" panose="02020603050405020304" pitchFamily="18" charset="0"/>
                <a:cs typeface="Times New Roman" panose="02020603050405020304" pitchFamily="18" charset="0"/>
              </a:rPr>
              <a:t>M</a:t>
            </a:r>
            <a:r>
              <a:rPr lang="en-IN" i="0" dirty="0" err="1">
                <a:solidFill>
                  <a:schemeClr val="tx1"/>
                </a:solidFill>
                <a:effectLst/>
                <a:latin typeface="Times New Roman" panose="02020603050405020304" pitchFamily="18" charset="0"/>
                <a:cs typeface="Times New Roman" panose="02020603050405020304" pitchFamily="18" charset="0"/>
              </a:rPr>
              <a:t>atlab</a:t>
            </a:r>
            <a:r>
              <a:rPr lang="en-IN" dirty="0" err="1">
                <a:solidFill>
                  <a:schemeClr val="tx1"/>
                </a:solidFill>
                <a:latin typeface="Times New Roman" panose="02020603050405020304" pitchFamily="18" charset="0"/>
                <a:cs typeface="Times New Roman" panose="02020603050405020304" pitchFamily="18" charset="0"/>
              </a:rPr>
              <a:t>-Thingspeak</a:t>
            </a:r>
            <a:endParaRPr lang="en-IN" i="0" dirty="0">
              <a:solidFill>
                <a:schemeClr val="tx1"/>
              </a:solidFill>
              <a:effectLst/>
              <a:latin typeface="Times New Roman" panose="02020603050405020304" pitchFamily="18" charset="0"/>
              <a:cs typeface="Times New Roman" panose="02020603050405020304" pitchFamily="18" charset="0"/>
            </a:endParaRPr>
          </a:p>
          <a:p>
            <a:r>
              <a:rPr lang="en-IN" i="0" dirty="0">
                <a:solidFill>
                  <a:schemeClr val="tx1"/>
                </a:solidFill>
                <a:effectLst/>
                <a:latin typeface="Times New Roman" panose="02020603050405020304" pitchFamily="18" charset="0"/>
                <a:cs typeface="Times New Roman" panose="02020603050405020304" pitchFamily="18" charset="0"/>
              </a:rPr>
              <a:t>Data Analysis Tools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3058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54861-35C1-B3AB-329D-C3146D90AA1E}"/>
              </a:ext>
            </a:extLst>
          </p:cNvPr>
          <p:cNvSpPr>
            <a:spLocks noGrp="1"/>
          </p:cNvSpPr>
          <p:nvPr>
            <p:ph type="title"/>
          </p:nvPr>
        </p:nvSpPr>
        <p:spPr>
          <a:xfrm>
            <a:off x="311700" y="429974"/>
            <a:ext cx="8520600" cy="572700"/>
          </a:xfrm>
        </p:spPr>
        <p:txBody>
          <a:bodyPr>
            <a:normAutofit fontScale="90000"/>
          </a:bodyPr>
          <a:lstStyle/>
          <a:p>
            <a:pPr algn="ctr"/>
            <a:r>
              <a:rPr lang="en-IN" dirty="0">
                <a:solidFill>
                  <a:schemeClr val="accent1"/>
                </a:solidFill>
                <a:latin typeface="Times New Roman" panose="02020603050405020304" pitchFamily="18" charset="0"/>
                <a:cs typeface="Times New Roman" panose="02020603050405020304" pitchFamily="18" charset="0"/>
              </a:rPr>
              <a:t>OUTPUTS AND SCREENSHOTS</a:t>
            </a:r>
          </a:p>
        </p:txBody>
      </p:sp>
      <p:pic>
        <p:nvPicPr>
          <p:cNvPr id="4" name="Picture 3">
            <a:extLst>
              <a:ext uri="{FF2B5EF4-FFF2-40B4-BE49-F238E27FC236}">
                <a16:creationId xmlns:a16="http://schemas.microsoft.com/office/drawing/2014/main" id="{604F0D90-790D-AB7F-D551-F5A101421661}"/>
              </a:ext>
            </a:extLst>
          </p:cNvPr>
          <p:cNvPicPr>
            <a:picLocks noChangeAspect="1"/>
          </p:cNvPicPr>
          <p:nvPr/>
        </p:nvPicPr>
        <p:blipFill>
          <a:blip r:embed="rId2"/>
          <a:stretch>
            <a:fillRect/>
          </a:stretch>
        </p:blipFill>
        <p:spPr>
          <a:xfrm>
            <a:off x="1432207" y="1002674"/>
            <a:ext cx="6395949" cy="3894346"/>
          </a:xfrm>
          <a:prstGeom prst="rect">
            <a:avLst/>
          </a:prstGeom>
        </p:spPr>
      </p:pic>
    </p:spTree>
    <p:extLst>
      <p:ext uri="{BB962C8B-B14F-4D97-AF65-F5344CB8AC3E}">
        <p14:creationId xmlns:p14="http://schemas.microsoft.com/office/powerpoint/2010/main" val="1112937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3854-24BD-FFBD-9940-466C8FAFC0D8}"/>
              </a:ext>
            </a:extLst>
          </p:cNvPr>
          <p:cNvSpPr>
            <a:spLocks noGrp="1"/>
          </p:cNvSpPr>
          <p:nvPr>
            <p:ph type="title"/>
          </p:nvPr>
        </p:nvSpPr>
        <p:spPr>
          <a:xfrm>
            <a:off x="311700" y="0"/>
            <a:ext cx="8520600" cy="572700"/>
          </a:xfrm>
        </p:spPr>
        <p:txBody>
          <a:bodyPr>
            <a:normAutofit fontScale="90000"/>
          </a:bodyPr>
          <a:lstStyle/>
          <a:p>
            <a:pPr algn="ctr"/>
            <a:r>
              <a:rPr lang="en-IN" dirty="0">
                <a:solidFill>
                  <a:schemeClr val="accent1"/>
                </a:solidFill>
                <a:latin typeface="Times New Roman" panose="02020603050405020304" pitchFamily="18" charset="0"/>
                <a:cs typeface="Times New Roman" panose="02020603050405020304" pitchFamily="18" charset="0"/>
              </a:rPr>
              <a:t>Webpage</a:t>
            </a:r>
          </a:p>
        </p:txBody>
      </p:sp>
      <p:pic>
        <p:nvPicPr>
          <p:cNvPr id="6" name="Picture 5">
            <a:extLst>
              <a:ext uri="{FF2B5EF4-FFF2-40B4-BE49-F238E27FC236}">
                <a16:creationId xmlns:a16="http://schemas.microsoft.com/office/drawing/2014/main" id="{DBEA254F-A9E3-8A13-C119-72C2A8DE87AF}"/>
              </a:ext>
            </a:extLst>
          </p:cNvPr>
          <p:cNvPicPr>
            <a:picLocks noChangeAspect="1"/>
          </p:cNvPicPr>
          <p:nvPr/>
        </p:nvPicPr>
        <p:blipFill>
          <a:blip r:embed="rId2"/>
          <a:stretch>
            <a:fillRect/>
          </a:stretch>
        </p:blipFill>
        <p:spPr>
          <a:xfrm>
            <a:off x="698809" y="504918"/>
            <a:ext cx="7390076" cy="4638582"/>
          </a:xfrm>
          <a:prstGeom prst="rect">
            <a:avLst/>
          </a:prstGeom>
        </p:spPr>
      </p:pic>
    </p:spTree>
    <p:extLst>
      <p:ext uri="{BB962C8B-B14F-4D97-AF65-F5344CB8AC3E}">
        <p14:creationId xmlns:p14="http://schemas.microsoft.com/office/powerpoint/2010/main" val="836627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2DED7-FF5C-A3CC-1CDB-E34160E01655}"/>
              </a:ext>
            </a:extLst>
          </p:cNvPr>
          <p:cNvSpPr>
            <a:spLocks noGrp="1"/>
          </p:cNvSpPr>
          <p:nvPr>
            <p:ph type="title"/>
          </p:nvPr>
        </p:nvSpPr>
        <p:spPr>
          <a:xfrm>
            <a:off x="371173" y="88186"/>
            <a:ext cx="8520600" cy="572700"/>
          </a:xfrm>
        </p:spPr>
        <p:txBody>
          <a:bodyPr>
            <a:normAutofit fontScale="90000"/>
          </a:bodyPr>
          <a:lstStyle/>
          <a:p>
            <a:pPr algn="ctr"/>
            <a:r>
              <a:rPr lang="en-IN" dirty="0">
                <a:solidFill>
                  <a:schemeClr val="accent1"/>
                </a:solidFill>
                <a:latin typeface="Times New Roman" panose="02020603050405020304" pitchFamily="18" charset="0"/>
                <a:cs typeface="Times New Roman" panose="02020603050405020304" pitchFamily="18" charset="0"/>
              </a:rPr>
              <a:t>Webpage </a:t>
            </a:r>
          </a:p>
        </p:txBody>
      </p:sp>
      <p:pic>
        <p:nvPicPr>
          <p:cNvPr id="6" name="Picture 5">
            <a:extLst>
              <a:ext uri="{FF2B5EF4-FFF2-40B4-BE49-F238E27FC236}">
                <a16:creationId xmlns:a16="http://schemas.microsoft.com/office/drawing/2014/main" id="{8961B9E5-AC51-2E05-34FA-EBDA6A92926D}"/>
              </a:ext>
            </a:extLst>
          </p:cNvPr>
          <p:cNvPicPr>
            <a:picLocks noChangeAspect="1"/>
          </p:cNvPicPr>
          <p:nvPr/>
        </p:nvPicPr>
        <p:blipFill>
          <a:blip r:embed="rId2"/>
          <a:stretch>
            <a:fillRect/>
          </a:stretch>
        </p:blipFill>
        <p:spPr>
          <a:xfrm>
            <a:off x="741499" y="660886"/>
            <a:ext cx="7832877" cy="4119363"/>
          </a:xfrm>
          <a:prstGeom prst="rect">
            <a:avLst/>
          </a:prstGeom>
        </p:spPr>
      </p:pic>
    </p:spTree>
    <p:extLst>
      <p:ext uri="{BB962C8B-B14F-4D97-AF65-F5344CB8AC3E}">
        <p14:creationId xmlns:p14="http://schemas.microsoft.com/office/powerpoint/2010/main" val="3266463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BA667-DFA7-49F3-B5C0-FA4266B40F4E}"/>
              </a:ext>
            </a:extLst>
          </p:cNvPr>
          <p:cNvSpPr>
            <a:spLocks noGrp="1"/>
          </p:cNvSpPr>
          <p:nvPr>
            <p:ph type="title"/>
          </p:nvPr>
        </p:nvSpPr>
        <p:spPr/>
        <p:txBody>
          <a:bodyPr>
            <a:normAutofit fontScale="90000"/>
          </a:bodyPr>
          <a:lstStyle/>
          <a:p>
            <a:pPr algn="ctr"/>
            <a:r>
              <a:rPr lang="en-IN" dirty="0">
                <a:solidFill>
                  <a:schemeClr val="accent1"/>
                </a:solidFill>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E4611F0F-7096-7871-41F3-3BAF64ED4F3E}"/>
              </a:ext>
            </a:extLst>
          </p:cNvPr>
          <p:cNvSpPr>
            <a:spLocks noGrp="1"/>
          </p:cNvSpPr>
          <p:nvPr>
            <p:ph type="body" idx="1"/>
          </p:nvPr>
        </p:nvSpPr>
        <p:spPr/>
        <p:txBody>
          <a:bodyPr>
            <a:normAutofit/>
          </a:bodyPr>
          <a:lstStyle/>
          <a:p>
            <a:r>
              <a:rPr lang="en-US" dirty="0">
                <a:solidFill>
                  <a:schemeClr val="tx1"/>
                </a:solidFill>
              </a:rPr>
              <a:t>The proposed system will not only help us to detect landslide but also to send a message at the concerned authority where other emergency message also can be sent. </a:t>
            </a:r>
          </a:p>
          <a:p>
            <a:r>
              <a:rPr lang="en-US" dirty="0">
                <a:solidFill>
                  <a:schemeClr val="tx1"/>
                </a:solidFill>
              </a:rPr>
              <a:t>With the help of sensors can be sent which will eventually save lives and prevent damage to the cars, properties etc. Also after the data is received from hardware to the website using </a:t>
            </a:r>
            <a:r>
              <a:rPr lang="en-US" dirty="0" err="1">
                <a:solidFill>
                  <a:schemeClr val="tx1"/>
                </a:solidFill>
              </a:rPr>
              <a:t>wifi</a:t>
            </a:r>
            <a:r>
              <a:rPr lang="en-US" dirty="0">
                <a:solidFill>
                  <a:schemeClr val="tx1"/>
                </a:solidFill>
              </a:rPr>
              <a:t> module the authority can act accordingly. </a:t>
            </a:r>
          </a:p>
          <a:p>
            <a:r>
              <a:rPr lang="en-US" dirty="0" err="1">
                <a:solidFill>
                  <a:schemeClr val="tx1"/>
                </a:solidFill>
              </a:rPr>
              <a:t>Here,we</a:t>
            </a:r>
            <a:r>
              <a:rPr lang="en-US" dirty="0">
                <a:solidFill>
                  <a:schemeClr val="tx1"/>
                </a:solidFill>
              </a:rPr>
              <a:t> declare that the suggested system will be cost efficient and highly accurate data will be shared.</a:t>
            </a:r>
          </a:p>
        </p:txBody>
      </p:sp>
    </p:spTree>
    <p:extLst>
      <p:ext uri="{BB962C8B-B14F-4D97-AF65-F5344CB8AC3E}">
        <p14:creationId xmlns:p14="http://schemas.microsoft.com/office/powerpoint/2010/main" val="4140406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FC043-704A-585F-9463-30F2D9E30C21}"/>
              </a:ext>
            </a:extLst>
          </p:cNvPr>
          <p:cNvSpPr>
            <a:spLocks noGrp="1"/>
          </p:cNvSpPr>
          <p:nvPr>
            <p:ph type="title"/>
          </p:nvPr>
        </p:nvSpPr>
        <p:spPr/>
        <p:txBody>
          <a:bodyPr>
            <a:normAutofit fontScale="90000"/>
          </a:bodyPr>
          <a:lstStyle/>
          <a:p>
            <a:pPr algn="ctr"/>
            <a:r>
              <a:rPr lang="en-IN" dirty="0">
                <a:solidFill>
                  <a:schemeClr val="accent1"/>
                </a:solidFill>
              </a:rPr>
              <a:t>REFERENCE</a:t>
            </a:r>
          </a:p>
        </p:txBody>
      </p:sp>
      <p:sp>
        <p:nvSpPr>
          <p:cNvPr id="3" name="Text Placeholder 2">
            <a:extLst>
              <a:ext uri="{FF2B5EF4-FFF2-40B4-BE49-F238E27FC236}">
                <a16:creationId xmlns:a16="http://schemas.microsoft.com/office/drawing/2014/main" id="{D2CCDB99-FDED-BBBE-F03B-662CCF8F0ABB}"/>
              </a:ext>
            </a:extLst>
          </p:cNvPr>
          <p:cNvSpPr>
            <a:spLocks noGrp="1"/>
          </p:cNvSpPr>
          <p:nvPr>
            <p:ph type="body" idx="1"/>
          </p:nvPr>
        </p:nvSpPr>
        <p:spPr>
          <a:xfrm>
            <a:off x="311700" y="936702"/>
            <a:ext cx="8520600" cy="3940097"/>
          </a:xfrm>
        </p:spPr>
        <p:txBody>
          <a:bodyPr>
            <a:normAutofit fontScale="70000" lnSpcReduction="20000"/>
          </a:bodyPr>
          <a:lstStyle/>
          <a:p>
            <a:pPr>
              <a:buFont typeface="Arial" panose="020B0604020202020204" pitchFamily="34" charset="0"/>
              <a:buChar char="•"/>
            </a:pPr>
            <a:r>
              <a:rPr lang="en-IN" sz="2600" dirty="0">
                <a:solidFill>
                  <a:schemeClr val="tx1"/>
                </a:solidFill>
                <a:latin typeface="Times New Roman" panose="02020603050405020304" pitchFamily="18" charset="0"/>
                <a:cs typeface="Times New Roman" panose="02020603050405020304" pitchFamily="18" charset="0"/>
              </a:rPr>
              <a:t> Jadhav Kanchan Eknath, </a:t>
            </a:r>
            <a:r>
              <a:rPr lang="en-IN" sz="2600" dirty="0" err="1">
                <a:solidFill>
                  <a:schemeClr val="tx1"/>
                </a:solidFill>
                <a:latin typeface="Times New Roman" panose="02020603050405020304" pitchFamily="18" charset="0"/>
                <a:cs typeface="Times New Roman" panose="02020603050405020304" pitchFamily="18" charset="0"/>
              </a:rPr>
              <a:t>Nalegaonkar</a:t>
            </a:r>
            <a:r>
              <a:rPr lang="en-IN" sz="2600" dirty="0">
                <a:solidFill>
                  <a:schemeClr val="tx1"/>
                </a:solidFill>
                <a:latin typeface="Times New Roman" panose="02020603050405020304" pitchFamily="18" charset="0"/>
                <a:cs typeface="Times New Roman" panose="02020603050405020304" pitchFamily="18" charset="0"/>
              </a:rPr>
              <a:t> Abhilash Dashrath, </a:t>
            </a:r>
            <a:r>
              <a:rPr lang="en-IN" sz="2600" dirty="0" err="1">
                <a:solidFill>
                  <a:schemeClr val="tx1"/>
                </a:solidFill>
                <a:latin typeface="Times New Roman" panose="02020603050405020304" pitchFamily="18" charset="0"/>
                <a:cs typeface="Times New Roman" panose="02020603050405020304" pitchFamily="18" charset="0"/>
              </a:rPr>
              <a:t>Salunke</a:t>
            </a:r>
            <a:r>
              <a:rPr lang="en-IN" sz="2600" dirty="0">
                <a:solidFill>
                  <a:schemeClr val="tx1"/>
                </a:solidFill>
                <a:latin typeface="Times New Roman" panose="02020603050405020304" pitchFamily="18" charset="0"/>
                <a:cs typeface="Times New Roman" panose="02020603050405020304" pitchFamily="18" charset="0"/>
              </a:rPr>
              <a:t> Vaishnavi Pandurang, </a:t>
            </a:r>
            <a:r>
              <a:rPr lang="en-IN" sz="2600" dirty="0" err="1">
                <a:solidFill>
                  <a:schemeClr val="tx1"/>
                </a:solidFill>
                <a:latin typeface="Times New Roman" panose="02020603050405020304" pitchFamily="18" charset="0"/>
                <a:cs typeface="Times New Roman" panose="02020603050405020304" pitchFamily="18" charset="0"/>
              </a:rPr>
              <a:t>Rajole</a:t>
            </a:r>
            <a:r>
              <a:rPr lang="en-IN" sz="2600" dirty="0">
                <a:solidFill>
                  <a:schemeClr val="tx1"/>
                </a:solidFill>
                <a:latin typeface="Times New Roman" panose="02020603050405020304" pitchFamily="18" charset="0"/>
                <a:cs typeface="Times New Roman" panose="02020603050405020304" pitchFamily="18" charset="0"/>
              </a:rPr>
              <a:t> Savita Dinkar "IOT Based Landslide Detection &amp; Prevention System," IJARIIE-ISSN(O)-2395-4396, Vol4 Issue-2 2018</a:t>
            </a:r>
          </a:p>
          <a:p>
            <a:pPr>
              <a:buFont typeface="Arial" panose="020B0604020202020204" pitchFamily="34" charset="0"/>
              <a:buChar char="•"/>
            </a:pPr>
            <a:r>
              <a:rPr lang="en-IN" sz="2600" dirty="0">
                <a:solidFill>
                  <a:schemeClr val="tx1"/>
                </a:solidFill>
                <a:latin typeface="Times New Roman" panose="02020603050405020304" pitchFamily="18" charset="0"/>
                <a:cs typeface="Times New Roman" panose="02020603050405020304" pitchFamily="18" charset="0"/>
              </a:rPr>
              <a:t>Pawar </a:t>
            </a:r>
            <a:r>
              <a:rPr lang="en-IN" sz="2600" dirty="0" err="1">
                <a:solidFill>
                  <a:schemeClr val="tx1"/>
                </a:solidFill>
                <a:latin typeface="Times New Roman" panose="02020603050405020304" pitchFamily="18" charset="0"/>
                <a:cs typeface="Times New Roman" panose="02020603050405020304" pitchFamily="18" charset="0"/>
              </a:rPr>
              <a:t>Pitambar</a:t>
            </a:r>
            <a:r>
              <a:rPr lang="en-IN" sz="2600" dirty="0">
                <a:solidFill>
                  <a:schemeClr val="tx1"/>
                </a:solidFill>
                <a:latin typeface="Times New Roman" panose="02020603050405020304" pitchFamily="18" charset="0"/>
                <a:cs typeface="Times New Roman" panose="02020603050405020304" pitchFamily="18" charset="0"/>
              </a:rPr>
              <a:t>, Patil Akshay, Rathod Hardik, "IOT Based Landslide Detection &amp; Monitoring," IIJARA(E_ISSN 2348-1269, P- ISSN 2349-2138), May 2019 Volume 6, Issue 2</a:t>
            </a:r>
          </a:p>
          <a:p>
            <a:pPr>
              <a:buFont typeface="Arial" panose="020B0604020202020204" pitchFamily="34" charset="0"/>
              <a:buChar char="•"/>
            </a:pPr>
            <a:r>
              <a:rPr lang="en-IN" sz="2600" dirty="0">
                <a:solidFill>
                  <a:schemeClr val="tx1"/>
                </a:solidFill>
                <a:latin typeface="Times New Roman" panose="02020603050405020304" pitchFamily="18" charset="0"/>
                <a:cs typeface="Times New Roman" panose="02020603050405020304" pitchFamily="18" charset="0"/>
              </a:rPr>
              <a:t>M. R. </a:t>
            </a:r>
            <a:r>
              <a:rPr lang="en-IN" sz="2600" dirty="0" err="1">
                <a:solidFill>
                  <a:schemeClr val="tx1"/>
                </a:solidFill>
                <a:latin typeface="Times New Roman" panose="02020603050405020304" pitchFamily="18" charset="0"/>
                <a:cs typeface="Times New Roman" panose="02020603050405020304" pitchFamily="18" charset="0"/>
              </a:rPr>
              <a:t>Surthy</a:t>
            </a:r>
            <a:r>
              <a:rPr lang="en-IN" sz="2600" dirty="0">
                <a:solidFill>
                  <a:schemeClr val="tx1"/>
                </a:solidFill>
                <a:latin typeface="Times New Roman" panose="02020603050405020304" pitchFamily="18" charset="0"/>
                <a:cs typeface="Times New Roman" panose="02020603050405020304" pitchFamily="18" charset="0"/>
              </a:rPr>
              <a:t>, R. Anjana, V. </a:t>
            </a:r>
            <a:r>
              <a:rPr lang="en-IN" sz="2600" dirty="0" err="1">
                <a:solidFill>
                  <a:schemeClr val="tx1"/>
                </a:solidFill>
                <a:latin typeface="Times New Roman" panose="02020603050405020304" pitchFamily="18" charset="0"/>
                <a:cs typeface="Times New Roman" panose="02020603050405020304" pitchFamily="18" charset="0"/>
              </a:rPr>
              <a:t>Dhanya</a:t>
            </a:r>
            <a:r>
              <a:rPr lang="en-IN" sz="2600" dirty="0">
                <a:solidFill>
                  <a:schemeClr val="tx1"/>
                </a:solidFill>
                <a:latin typeface="Times New Roman" panose="02020603050405020304" pitchFamily="18" charset="0"/>
                <a:cs typeface="Times New Roman" panose="02020603050405020304" pitchFamily="18" charset="0"/>
              </a:rPr>
              <a:t> "IOT Based Landslide Detection and Monitoring System," IJRESM ISSN: 2581- 5792 Volume-3, Issue-4, April2020</a:t>
            </a:r>
          </a:p>
          <a:p>
            <a:pPr>
              <a:buFont typeface="Arial" panose="020B0604020202020204" pitchFamily="34" charset="0"/>
              <a:buChar char="•"/>
            </a:pPr>
            <a:r>
              <a:rPr lang="en-IN" sz="2600" dirty="0">
                <a:solidFill>
                  <a:schemeClr val="tx1"/>
                </a:solidFill>
                <a:latin typeface="Times New Roman" panose="02020603050405020304" pitchFamily="18" charset="0"/>
                <a:cs typeface="Times New Roman" panose="02020603050405020304" pitchFamily="18" charset="0"/>
              </a:rPr>
              <a:t>D. </a:t>
            </a:r>
            <a:r>
              <a:rPr lang="en-IN" sz="2600" dirty="0" err="1">
                <a:solidFill>
                  <a:schemeClr val="tx1"/>
                </a:solidFill>
                <a:latin typeface="Times New Roman" panose="02020603050405020304" pitchFamily="18" charset="0"/>
                <a:cs typeface="Times New Roman" panose="02020603050405020304" pitchFamily="18" charset="0"/>
              </a:rPr>
              <a:t>Petley</a:t>
            </a:r>
            <a:r>
              <a:rPr lang="en-IN" sz="2600" dirty="0">
                <a:solidFill>
                  <a:schemeClr val="tx1"/>
                </a:solidFill>
                <a:latin typeface="Times New Roman" panose="02020603050405020304" pitchFamily="18" charset="0"/>
                <a:cs typeface="Times New Roman" panose="02020603050405020304" pitchFamily="18" charset="0"/>
              </a:rPr>
              <a:t>, R. </a:t>
            </a:r>
            <a:r>
              <a:rPr lang="en-IN" sz="2600" dirty="0" err="1">
                <a:solidFill>
                  <a:schemeClr val="tx1"/>
                </a:solidFill>
                <a:latin typeface="Times New Roman" panose="02020603050405020304" pitchFamily="18" charset="0"/>
                <a:cs typeface="Times New Roman" panose="02020603050405020304" pitchFamily="18" charset="0"/>
              </a:rPr>
              <a:t>Rakuts</a:t>
            </a:r>
            <a:r>
              <a:rPr lang="en-IN" sz="2600" dirty="0">
                <a:solidFill>
                  <a:schemeClr val="tx1"/>
                </a:solidFill>
                <a:latin typeface="Times New Roman" panose="02020603050405020304" pitchFamily="18" charset="0"/>
                <a:cs typeface="Times New Roman" panose="02020603050405020304" pitchFamily="18" charset="0"/>
              </a:rPr>
              <a:t>, Global patterns of loss of life from landslide, </a:t>
            </a:r>
            <a:r>
              <a:rPr lang="en-IN" sz="2600" dirty="0" err="1">
                <a:solidFill>
                  <a:schemeClr val="tx1"/>
                </a:solidFill>
                <a:latin typeface="Times New Roman" panose="02020603050405020304" pitchFamily="18" charset="0"/>
                <a:cs typeface="Times New Roman" panose="02020603050405020304" pitchFamily="18" charset="0"/>
              </a:rPr>
              <a:t>Geologym</a:t>
            </a:r>
            <a:r>
              <a:rPr lang="en-IN" sz="2600" dirty="0">
                <a:solidFill>
                  <a:schemeClr val="tx1"/>
                </a:solidFill>
                <a:latin typeface="Times New Roman" panose="02020603050405020304" pitchFamily="18" charset="0"/>
                <a:cs typeface="Times New Roman" panose="02020603050405020304" pitchFamily="18" charset="0"/>
              </a:rPr>
              <a:t> Vol.40, no.10, p.921,2014.</a:t>
            </a:r>
          </a:p>
          <a:p>
            <a:pPr>
              <a:buFont typeface="Arial" panose="020B0604020202020204" pitchFamily="34" charset="0"/>
              <a:buChar char="•"/>
            </a:pPr>
            <a:r>
              <a:rPr lang="en-IN" sz="2600" dirty="0">
                <a:solidFill>
                  <a:schemeClr val="tx1"/>
                </a:solidFill>
                <a:latin typeface="Times New Roman" panose="02020603050405020304" pitchFamily="18" charset="0"/>
                <a:cs typeface="Times New Roman" panose="02020603050405020304" pitchFamily="18" charset="0"/>
              </a:rPr>
              <a:t>Putri Fatimah, </a:t>
            </a:r>
            <a:r>
              <a:rPr lang="en-IN" sz="2600" dirty="0" err="1">
                <a:solidFill>
                  <a:schemeClr val="tx1"/>
                </a:solidFill>
                <a:latin typeface="Times New Roman" panose="02020603050405020304" pitchFamily="18" charset="0"/>
                <a:cs typeface="Times New Roman" panose="02020603050405020304" pitchFamily="18" charset="0"/>
              </a:rPr>
              <a:t>Budhi</a:t>
            </a:r>
            <a:r>
              <a:rPr lang="en-IN" sz="2600" dirty="0">
                <a:solidFill>
                  <a:schemeClr val="tx1"/>
                </a:solidFill>
                <a:latin typeface="Times New Roman" panose="02020603050405020304" pitchFamily="18" charset="0"/>
                <a:cs typeface="Times New Roman" panose="02020603050405020304" pitchFamily="18" charset="0"/>
              </a:rPr>
              <a:t> </a:t>
            </a:r>
            <a:r>
              <a:rPr lang="en-IN" sz="2600" dirty="0" err="1">
                <a:solidFill>
                  <a:schemeClr val="tx1"/>
                </a:solidFill>
                <a:latin typeface="Times New Roman" panose="02020603050405020304" pitchFamily="18" charset="0"/>
                <a:cs typeface="Times New Roman" panose="02020603050405020304" pitchFamily="18" charset="0"/>
              </a:rPr>
              <a:t>Irawan</a:t>
            </a:r>
            <a:r>
              <a:rPr lang="en-IN" sz="2600" dirty="0">
                <a:solidFill>
                  <a:schemeClr val="tx1"/>
                </a:solidFill>
                <a:latin typeface="Times New Roman" panose="02020603050405020304" pitchFamily="18" charset="0"/>
                <a:cs typeface="Times New Roman" panose="02020603050405020304" pitchFamily="18" charset="0"/>
              </a:rPr>
              <a:t>, </a:t>
            </a:r>
            <a:r>
              <a:rPr lang="en-IN" sz="2600" dirty="0" err="1">
                <a:solidFill>
                  <a:schemeClr val="tx1"/>
                </a:solidFill>
                <a:latin typeface="Times New Roman" panose="02020603050405020304" pitchFamily="18" charset="0"/>
                <a:cs typeface="Times New Roman" panose="02020603050405020304" pitchFamily="18" charset="0"/>
              </a:rPr>
              <a:t>Casi</a:t>
            </a:r>
            <a:r>
              <a:rPr lang="en-IN" sz="2600" dirty="0">
                <a:solidFill>
                  <a:schemeClr val="tx1"/>
                </a:solidFill>
                <a:latin typeface="Times New Roman" panose="02020603050405020304" pitchFamily="18" charset="0"/>
                <a:cs typeface="Times New Roman" panose="02020603050405020304" pitchFamily="18" charset="0"/>
              </a:rPr>
              <a:t> </a:t>
            </a:r>
            <a:r>
              <a:rPr lang="en-IN" sz="2600" dirty="0" err="1">
                <a:solidFill>
                  <a:schemeClr val="tx1"/>
                </a:solidFill>
                <a:latin typeface="Times New Roman" panose="02020603050405020304" pitchFamily="18" charset="0"/>
                <a:cs typeface="Times New Roman" panose="02020603050405020304" pitchFamily="18" charset="0"/>
              </a:rPr>
              <a:t>Setiannigshi</a:t>
            </a:r>
            <a:r>
              <a:rPr lang="en-IN" sz="2600" dirty="0">
                <a:solidFill>
                  <a:schemeClr val="tx1"/>
                </a:solidFill>
                <a:latin typeface="Times New Roman" panose="02020603050405020304" pitchFamily="18" charset="0"/>
                <a:cs typeface="Times New Roman" panose="02020603050405020304" pitchFamily="18" charset="0"/>
              </a:rPr>
              <a:t>, "Design </a:t>
            </a:r>
            <a:r>
              <a:rPr lang="en-IN" sz="2600" dirty="0" err="1">
                <a:solidFill>
                  <a:schemeClr val="tx1"/>
                </a:solidFill>
                <a:latin typeface="Times New Roman" panose="02020603050405020304" pitchFamily="18" charset="0"/>
                <a:cs typeface="Times New Roman" panose="02020603050405020304" pitchFamily="18" charset="0"/>
              </a:rPr>
              <a:t>og</a:t>
            </a:r>
            <a:r>
              <a:rPr lang="en-IN" sz="2600" dirty="0">
                <a:solidFill>
                  <a:schemeClr val="tx1"/>
                </a:solidFill>
                <a:latin typeface="Times New Roman" panose="02020603050405020304" pitchFamily="18" charset="0"/>
                <a:cs typeface="Times New Roman" panose="02020603050405020304" pitchFamily="18" charset="0"/>
              </a:rPr>
              <a:t> Landslide Early Warning System Using Fuzzy Method Based on Android." 2020 12th </a:t>
            </a:r>
            <a:r>
              <a:rPr lang="en-IN" sz="2600" dirty="0" err="1">
                <a:solidFill>
                  <a:schemeClr val="tx1"/>
                </a:solidFill>
                <a:latin typeface="Times New Roman" panose="02020603050405020304" pitchFamily="18" charset="0"/>
                <a:cs typeface="Times New Roman" panose="02020603050405020304" pitchFamily="18" charset="0"/>
              </a:rPr>
              <a:t>Internation</a:t>
            </a:r>
            <a:r>
              <a:rPr lang="en-IN" sz="2600" dirty="0">
                <a:solidFill>
                  <a:schemeClr val="tx1"/>
                </a:solidFill>
                <a:latin typeface="Times New Roman" panose="02020603050405020304" pitchFamily="18" charset="0"/>
                <a:cs typeface="Times New Roman" panose="02020603050405020304" pitchFamily="18" charset="0"/>
              </a:rPr>
              <a:t> al Conference on Information Technology and Electrical Engineering (ICITEE), Yogyakarta, Indonesia.</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32637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11375</TotalTime>
  <Words>1194</Words>
  <Application>Microsoft Office PowerPoint</Application>
  <PresentationFormat>On-screen Show (16:9)</PresentationFormat>
  <Paragraphs>122</Paragraphs>
  <Slides>20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Söhne</vt:lpstr>
      <vt:lpstr>Times New Roman</vt:lpstr>
      <vt:lpstr>Simple Light</vt:lpstr>
      <vt:lpstr>IoT Based Landslide Detection and Monitoring System</vt:lpstr>
      <vt:lpstr>Outline</vt:lpstr>
      <vt:lpstr>Base Paper</vt:lpstr>
      <vt:lpstr>Abstract</vt:lpstr>
      <vt:lpstr>Introduction </vt:lpstr>
      <vt:lpstr>Literature Survey</vt:lpstr>
      <vt:lpstr> Problem Definition </vt:lpstr>
      <vt:lpstr>Methodology</vt:lpstr>
      <vt:lpstr>Block Diagram</vt:lpstr>
      <vt:lpstr>PROPOSED SYSTEM</vt:lpstr>
      <vt:lpstr>MODULAR DESCRIPTION</vt:lpstr>
      <vt:lpstr>DETAILED DESCRIPTION</vt:lpstr>
      <vt:lpstr>PowerPoint Presentation</vt:lpstr>
      <vt:lpstr>PowerPoint Presentation</vt:lpstr>
      <vt:lpstr>DETAILS ABOUT THE PLATFORM,DATASET AND TOOLS</vt:lpstr>
      <vt:lpstr>OUTPUTS AND SCREENSHOTS</vt:lpstr>
      <vt:lpstr>Webpage</vt:lpstr>
      <vt:lpstr>Webpage </vt:lpstr>
      <vt:lpstr>CONCLUSION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AND BLOCKCHAIN BASED DISTRIBUTED AGRICULTURE SYSTEM TO ASSIST SMART FARMING AND TRACK AUTHENTICITY OF FOOD SOURCE</dc:title>
  <dc:creator>Sri Sowharan</dc:creator>
  <cp:lastModifiedBy>Sri Sowharan</cp:lastModifiedBy>
  <cp:revision>22</cp:revision>
  <dcterms:modified xsi:type="dcterms:W3CDTF">2024-03-24T10:44:21Z</dcterms:modified>
</cp:coreProperties>
</file>